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3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8487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731520" y="914400"/>
            <a:ext cx="7680960" cy="914400"/>
          </a:xfrm>
          <a:prstGeom prst="rect">
            <a:avLst/>
          </a:prstGeom>
          <a:noFill/>
          <a:ln/>
        </p:spPr>
        <p:txBody>
          <a:bodyPr wrap="square" rtlCol="0" anchor="ctr"/>
          <a:lstStyle/>
          <a:p>
            <a:pPr marL="0" indent="0" algn="l">
              <a:buNone/>
            </a:pPr>
            <a:r>
              <a:rPr lang="en-US" sz="4000" b="1" kern="0" spc="400" dirty="0">
                <a:solidFill>
                  <a:srgbClr val="F59E0B"/>
                </a:solidFill>
                <a:latin typeface="Georgia" pitchFamily="34" charset="0"/>
                <a:ea typeface="Georgia" pitchFamily="34" charset="-122"/>
                <a:cs typeface="Georgia" pitchFamily="34" charset="-120"/>
              </a:rPr>
              <a:t>FIFA WORLD CUP 2026</a:t>
            </a:r>
            <a:endParaRPr lang="en-US" sz="4000" dirty="0"/>
          </a:p>
        </p:txBody>
      </p:sp>
      <p:sp>
        <p:nvSpPr>
          <p:cNvPr id="4" name="Text 2"/>
          <p:cNvSpPr/>
          <p:nvPr/>
        </p:nvSpPr>
        <p:spPr>
          <a:xfrm>
            <a:off x="731520" y="1828800"/>
            <a:ext cx="7680960" cy="640080"/>
          </a:xfrm>
          <a:prstGeom prst="rect">
            <a:avLst/>
          </a:prstGeom>
          <a:noFill/>
          <a:ln/>
        </p:spPr>
        <p:txBody>
          <a:bodyPr wrap="square" rtlCol="0" anchor="ctr"/>
          <a:lstStyle/>
          <a:p>
            <a:pPr marL="0" indent="0" algn="l">
              <a:buNone/>
            </a:pPr>
            <a:r>
              <a:rPr lang="en-US" sz="2600" i="1" dirty="0">
                <a:solidFill>
                  <a:srgbClr val="F1F5F9"/>
                </a:solidFill>
                <a:latin typeface="Georgia" pitchFamily="34" charset="0"/>
                <a:ea typeface="Georgia" pitchFamily="34" charset="-122"/>
                <a:cs typeface="Georgia" pitchFamily="34" charset="-120"/>
              </a:rPr>
              <a:t>Exploratory Data Analysis</a:t>
            </a:r>
            <a:endParaRPr lang="en-US" sz="2600" dirty="0"/>
          </a:p>
        </p:txBody>
      </p:sp>
      <p:sp>
        <p:nvSpPr>
          <p:cNvPr id="5" name="Text 3"/>
          <p:cNvSpPr/>
          <p:nvPr/>
        </p:nvSpPr>
        <p:spPr>
          <a:xfrm>
            <a:off x="731520" y="2743200"/>
            <a:ext cx="7680960" cy="822960"/>
          </a:xfrm>
          <a:prstGeom prst="rect">
            <a:avLst/>
          </a:prstGeom>
          <a:noFill/>
          <a:ln/>
        </p:spPr>
        <p:txBody>
          <a:bodyPr wrap="square" rtlCol="0" anchor="t"/>
          <a:lstStyle/>
          <a:p>
            <a:pPr marL="0" indent="0" algn="l">
              <a:lnSpc>
                <a:spcPct val="130000"/>
              </a:lnSpc>
              <a:buNone/>
            </a:pPr>
            <a:r>
              <a:rPr lang="en-US" sz="1400" dirty="0">
                <a:solidFill>
                  <a:srgbClr val="94A3B8"/>
                </a:solidFill>
                <a:latin typeface="Calibri" pitchFamily="34" charset="0"/>
                <a:ea typeface="Calibri" pitchFamily="34" charset="-122"/>
                <a:cs typeface="Calibri" pitchFamily="34" charset="-120"/>
              </a:rPr>
              <a:t>A data-driven exploration of 4 key datasets:</a:t>
            </a:r>
            <a:endParaRPr lang="en-US" sz="1400" dirty="0"/>
          </a:p>
          <a:p>
            <a:pPr marL="0" indent="0" algn="l">
              <a:lnSpc>
                <a:spcPct val="130000"/>
              </a:lnSpc>
              <a:buNone/>
            </a:pPr>
            <a:r>
              <a:rPr lang="en-US" sz="1400" dirty="0">
                <a:solidFill>
                  <a:srgbClr val="94A3B8"/>
                </a:solidFill>
                <a:latin typeface="Calibri" pitchFamily="34" charset="0"/>
                <a:ea typeface="Calibri" pitchFamily="34" charset="-122"/>
                <a:cs typeface="Calibri" pitchFamily="34" charset="-120"/>
              </a:rPr>
              <a:t>Transfermarkt · Qualifiers · FIFA Ranking · World Cup History</a:t>
            </a:r>
            <a:endParaRPr lang="en-US" sz="1400" dirty="0"/>
          </a:p>
        </p:txBody>
      </p:sp>
      <p:sp>
        <p:nvSpPr>
          <p:cNvPr id="6" name="Shape 4"/>
          <p:cNvSpPr/>
          <p:nvPr/>
        </p:nvSpPr>
        <p:spPr>
          <a:xfrm>
            <a:off x="0" y="4754880"/>
            <a:ext cx="9144000" cy="388620"/>
          </a:xfrm>
          <a:prstGeom prst="rect">
            <a:avLst/>
          </a:prstGeom>
          <a:solidFill>
            <a:srgbClr val="0D9488"/>
          </a:solidFill>
          <a:ln/>
        </p:spPr>
      </p:sp>
      <p:sp>
        <p:nvSpPr>
          <p:cNvPr id="7" name="Text 5"/>
          <p:cNvSpPr/>
          <p:nvPr/>
        </p:nvSpPr>
        <p:spPr>
          <a:xfrm>
            <a:off x="731520" y="4800600"/>
            <a:ext cx="76809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Data Science Project · Monte Carlo Simulation · Machine Learning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marL="0" indent="0" algn="l">
              <a:buNone/>
            </a:pPr>
            <a:r>
              <a:rPr lang="en-US" sz="2800" b="1" dirty="0">
                <a:solidFill>
                  <a:srgbClr val="1A2332"/>
                </a:solidFill>
                <a:latin typeface="Georgia" pitchFamily="34" charset="0"/>
                <a:ea typeface="Georgia" pitchFamily="34" charset="-122"/>
                <a:cs typeface="Georgia" pitchFamily="34" charset="-120"/>
              </a:rPr>
              <a:t>PRESENTATION OUTLINE</a:t>
            </a:r>
            <a:endParaRPr lang="en-US" sz="2800" dirty="0"/>
          </a:p>
        </p:txBody>
      </p:sp>
      <p:sp>
        <p:nvSpPr>
          <p:cNvPr id="3" name="Shape 1"/>
          <p:cNvSpPr/>
          <p:nvPr/>
        </p:nvSpPr>
        <p:spPr>
          <a:xfrm>
            <a:off x="640080" y="1143000"/>
            <a:ext cx="411480" cy="411480"/>
          </a:xfrm>
          <a:prstGeom prst="ellipse">
            <a:avLst/>
          </a:prstGeom>
          <a:solidFill>
            <a:srgbClr val="0D9488"/>
          </a:solidFill>
          <a:ln/>
        </p:spPr>
      </p:sp>
      <p:sp>
        <p:nvSpPr>
          <p:cNvPr id="4" name="Text 2"/>
          <p:cNvSpPr/>
          <p:nvPr/>
        </p:nvSpPr>
        <p:spPr>
          <a:xfrm>
            <a:off x="640080" y="114300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1234440" y="1097280"/>
            <a:ext cx="3657600" cy="274320"/>
          </a:xfrm>
          <a:prstGeom prst="rect">
            <a:avLst/>
          </a:prstGeom>
          <a:noFill/>
          <a:ln/>
        </p:spPr>
        <p:txBody>
          <a:bodyPr wrap="square" lIns="0" tIns="0" rIns="0" bIns="0" rtlCol="0" anchor="ctr"/>
          <a:lstStyle/>
          <a:p>
            <a:pPr marL="0" indent="0" algn="l">
              <a:buNone/>
            </a:pPr>
            <a:r>
              <a:rPr lang="en-US" sz="1600" b="1" dirty="0">
                <a:solidFill>
                  <a:srgbClr val="1A2332"/>
                </a:solidFill>
                <a:latin typeface="Georgia" pitchFamily="34" charset="0"/>
                <a:ea typeface="Georgia" pitchFamily="34" charset="-122"/>
                <a:cs typeface="Georgia" pitchFamily="34" charset="-120"/>
              </a:rPr>
              <a:t>Introduction</a:t>
            </a:r>
            <a:endParaRPr lang="en-US" sz="1600" dirty="0"/>
          </a:p>
        </p:txBody>
      </p:sp>
      <p:sp>
        <p:nvSpPr>
          <p:cNvPr id="6" name="Text 4"/>
          <p:cNvSpPr/>
          <p:nvPr/>
        </p:nvSpPr>
        <p:spPr>
          <a:xfrm>
            <a:off x="1234440" y="1353312"/>
            <a:ext cx="640080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Project overview, datasets &amp; objectives</a:t>
            </a:r>
            <a:endParaRPr lang="en-US" sz="1100" dirty="0"/>
          </a:p>
        </p:txBody>
      </p:sp>
      <p:sp>
        <p:nvSpPr>
          <p:cNvPr id="7" name="Shape 5"/>
          <p:cNvSpPr/>
          <p:nvPr/>
        </p:nvSpPr>
        <p:spPr>
          <a:xfrm>
            <a:off x="640080" y="1783080"/>
            <a:ext cx="411480" cy="411480"/>
          </a:xfrm>
          <a:prstGeom prst="ellipse">
            <a:avLst/>
          </a:prstGeom>
          <a:solidFill>
            <a:srgbClr val="0D9488"/>
          </a:solidFill>
          <a:ln/>
        </p:spPr>
      </p:sp>
      <p:sp>
        <p:nvSpPr>
          <p:cNvPr id="8" name="Text 6"/>
          <p:cNvSpPr/>
          <p:nvPr/>
        </p:nvSpPr>
        <p:spPr>
          <a:xfrm>
            <a:off x="640080" y="178308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9" name="Text 7"/>
          <p:cNvSpPr/>
          <p:nvPr/>
        </p:nvSpPr>
        <p:spPr>
          <a:xfrm>
            <a:off x="1234440" y="1737360"/>
            <a:ext cx="3657600" cy="274320"/>
          </a:xfrm>
          <a:prstGeom prst="rect">
            <a:avLst/>
          </a:prstGeom>
          <a:noFill/>
          <a:ln/>
        </p:spPr>
        <p:txBody>
          <a:bodyPr wrap="square" lIns="0" tIns="0" rIns="0" bIns="0" rtlCol="0" anchor="ctr"/>
          <a:lstStyle/>
          <a:p>
            <a:pPr marL="0" indent="0" algn="l">
              <a:buNone/>
            </a:pPr>
            <a:r>
              <a:rPr lang="en-US" sz="1600" b="1" dirty="0">
                <a:solidFill>
                  <a:srgbClr val="1A2332"/>
                </a:solidFill>
                <a:latin typeface="Georgia" pitchFamily="34" charset="0"/>
                <a:ea typeface="Georgia" pitchFamily="34" charset="-122"/>
                <a:cs typeface="Georgia" pitchFamily="34" charset="-120"/>
              </a:rPr>
              <a:t>Transfermarkt Analysis</a:t>
            </a:r>
            <a:endParaRPr lang="en-US" sz="1600" dirty="0"/>
          </a:p>
        </p:txBody>
      </p:sp>
      <p:sp>
        <p:nvSpPr>
          <p:cNvPr id="10" name="Text 8"/>
          <p:cNvSpPr/>
          <p:nvPr/>
        </p:nvSpPr>
        <p:spPr>
          <a:xfrm>
            <a:off x="1234440" y="1993392"/>
            <a:ext cx="640080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Market values, player worth, confederation gaps</a:t>
            </a:r>
            <a:endParaRPr lang="en-US" sz="1100" dirty="0"/>
          </a:p>
        </p:txBody>
      </p:sp>
      <p:sp>
        <p:nvSpPr>
          <p:cNvPr id="11" name="Shape 9"/>
          <p:cNvSpPr/>
          <p:nvPr/>
        </p:nvSpPr>
        <p:spPr>
          <a:xfrm>
            <a:off x="640080" y="2423160"/>
            <a:ext cx="411480" cy="411480"/>
          </a:xfrm>
          <a:prstGeom prst="ellipse">
            <a:avLst/>
          </a:prstGeom>
          <a:solidFill>
            <a:srgbClr val="0D9488"/>
          </a:solidFill>
          <a:ln/>
        </p:spPr>
      </p:sp>
      <p:sp>
        <p:nvSpPr>
          <p:cNvPr id="12" name="Text 10"/>
          <p:cNvSpPr/>
          <p:nvPr/>
        </p:nvSpPr>
        <p:spPr>
          <a:xfrm>
            <a:off x="640080" y="24231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3" name="Text 11"/>
          <p:cNvSpPr/>
          <p:nvPr/>
        </p:nvSpPr>
        <p:spPr>
          <a:xfrm>
            <a:off x="1234440" y="2377440"/>
            <a:ext cx="3657600" cy="274320"/>
          </a:xfrm>
          <a:prstGeom prst="rect">
            <a:avLst/>
          </a:prstGeom>
          <a:noFill/>
          <a:ln/>
        </p:spPr>
        <p:txBody>
          <a:bodyPr wrap="square" lIns="0" tIns="0" rIns="0" bIns="0" rtlCol="0" anchor="ctr"/>
          <a:lstStyle/>
          <a:p>
            <a:pPr marL="0" indent="0" algn="l">
              <a:buNone/>
            </a:pPr>
            <a:r>
              <a:rPr lang="en-US" sz="1600" b="1" dirty="0">
                <a:solidFill>
                  <a:srgbClr val="1A2332"/>
                </a:solidFill>
                <a:latin typeface="Georgia" pitchFamily="34" charset="0"/>
                <a:ea typeface="Georgia" pitchFamily="34" charset="-122"/>
                <a:cs typeface="Georgia" pitchFamily="34" charset="-120"/>
              </a:rPr>
              <a:t>Qualifiers Performance</a:t>
            </a:r>
            <a:endParaRPr lang="en-US" sz="1600" dirty="0"/>
          </a:p>
        </p:txBody>
      </p:sp>
      <p:sp>
        <p:nvSpPr>
          <p:cNvPr id="14" name="Text 12"/>
          <p:cNvSpPr/>
          <p:nvPr/>
        </p:nvSpPr>
        <p:spPr>
          <a:xfrm>
            <a:off x="1234440" y="2633472"/>
            <a:ext cx="640080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Win rates, attack vs defense, status comparison</a:t>
            </a:r>
            <a:endParaRPr lang="en-US" sz="1100" dirty="0"/>
          </a:p>
        </p:txBody>
      </p:sp>
      <p:sp>
        <p:nvSpPr>
          <p:cNvPr id="15" name="Shape 13"/>
          <p:cNvSpPr/>
          <p:nvPr/>
        </p:nvSpPr>
        <p:spPr>
          <a:xfrm>
            <a:off x="640080" y="3063240"/>
            <a:ext cx="411480" cy="411480"/>
          </a:xfrm>
          <a:prstGeom prst="ellipse">
            <a:avLst/>
          </a:prstGeom>
          <a:solidFill>
            <a:srgbClr val="0D9488"/>
          </a:solidFill>
          <a:ln/>
        </p:spPr>
      </p:sp>
      <p:sp>
        <p:nvSpPr>
          <p:cNvPr id="16" name="Text 14"/>
          <p:cNvSpPr/>
          <p:nvPr/>
        </p:nvSpPr>
        <p:spPr>
          <a:xfrm>
            <a:off x="640080" y="306324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7" name="Text 15"/>
          <p:cNvSpPr/>
          <p:nvPr/>
        </p:nvSpPr>
        <p:spPr>
          <a:xfrm>
            <a:off x="1234440" y="3017520"/>
            <a:ext cx="3657600" cy="274320"/>
          </a:xfrm>
          <a:prstGeom prst="rect">
            <a:avLst/>
          </a:prstGeom>
          <a:noFill/>
          <a:ln/>
        </p:spPr>
        <p:txBody>
          <a:bodyPr wrap="square" lIns="0" tIns="0" rIns="0" bIns="0" rtlCol="0" anchor="ctr"/>
          <a:lstStyle/>
          <a:p>
            <a:pPr marL="0" indent="0" algn="l">
              <a:buNone/>
            </a:pPr>
            <a:r>
              <a:rPr lang="en-US" sz="1600" b="1" dirty="0">
                <a:solidFill>
                  <a:srgbClr val="1A2332"/>
                </a:solidFill>
                <a:latin typeface="Georgia" pitchFamily="34" charset="0"/>
                <a:ea typeface="Georgia" pitchFamily="34" charset="-122"/>
                <a:cs typeface="Georgia" pitchFamily="34" charset="-120"/>
              </a:rPr>
              <a:t>FIFA Ranking Analysis</a:t>
            </a:r>
            <a:endParaRPr lang="en-US" sz="1600" dirty="0"/>
          </a:p>
        </p:txBody>
      </p:sp>
      <p:sp>
        <p:nvSpPr>
          <p:cNvPr id="18" name="Text 16"/>
          <p:cNvSpPr/>
          <p:nvPr/>
        </p:nvSpPr>
        <p:spPr>
          <a:xfrm>
            <a:off x="1234440" y="3273552"/>
            <a:ext cx="640080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Ranking evolution, volatility &amp; stability</a:t>
            </a:r>
            <a:endParaRPr lang="en-US" sz="1100" dirty="0"/>
          </a:p>
        </p:txBody>
      </p:sp>
      <p:sp>
        <p:nvSpPr>
          <p:cNvPr id="19" name="Shape 17"/>
          <p:cNvSpPr/>
          <p:nvPr/>
        </p:nvSpPr>
        <p:spPr>
          <a:xfrm>
            <a:off x="640080" y="3703320"/>
            <a:ext cx="411480" cy="411480"/>
          </a:xfrm>
          <a:prstGeom prst="ellipse">
            <a:avLst/>
          </a:prstGeom>
          <a:solidFill>
            <a:srgbClr val="0D9488"/>
          </a:solidFill>
          <a:ln/>
        </p:spPr>
      </p:sp>
      <p:sp>
        <p:nvSpPr>
          <p:cNvPr id="20" name="Text 18"/>
          <p:cNvSpPr/>
          <p:nvPr/>
        </p:nvSpPr>
        <p:spPr>
          <a:xfrm>
            <a:off x="640080" y="370332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1" name="Text 19"/>
          <p:cNvSpPr/>
          <p:nvPr/>
        </p:nvSpPr>
        <p:spPr>
          <a:xfrm>
            <a:off x="1234440" y="3657600"/>
            <a:ext cx="3657600" cy="274320"/>
          </a:xfrm>
          <a:prstGeom prst="rect">
            <a:avLst/>
          </a:prstGeom>
          <a:noFill/>
          <a:ln/>
        </p:spPr>
        <p:txBody>
          <a:bodyPr wrap="square" lIns="0" tIns="0" rIns="0" bIns="0" rtlCol="0" anchor="ctr"/>
          <a:lstStyle/>
          <a:p>
            <a:pPr marL="0" indent="0" algn="l">
              <a:buNone/>
            </a:pPr>
            <a:r>
              <a:rPr lang="en-US" sz="1600" b="1" dirty="0">
                <a:solidFill>
                  <a:srgbClr val="1A2332"/>
                </a:solidFill>
                <a:latin typeface="Georgia" pitchFamily="34" charset="0"/>
                <a:ea typeface="Georgia" pitchFamily="34" charset="-122"/>
                <a:cs typeface="Georgia" pitchFamily="34" charset="-120"/>
              </a:rPr>
              <a:t>World Cup History</a:t>
            </a:r>
            <a:endParaRPr lang="en-US" sz="1600" dirty="0"/>
          </a:p>
        </p:txBody>
      </p:sp>
      <p:sp>
        <p:nvSpPr>
          <p:cNvPr id="22" name="Text 20"/>
          <p:cNvSpPr/>
          <p:nvPr/>
        </p:nvSpPr>
        <p:spPr>
          <a:xfrm>
            <a:off x="1234440" y="3913632"/>
            <a:ext cx="640080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Titles, goals, tournament evolution (1930–2022)</a:t>
            </a:r>
            <a:endParaRPr lang="en-US" sz="1100" dirty="0"/>
          </a:p>
        </p:txBody>
      </p:sp>
      <p:sp>
        <p:nvSpPr>
          <p:cNvPr id="23" name="Shape 21"/>
          <p:cNvSpPr/>
          <p:nvPr/>
        </p:nvSpPr>
        <p:spPr>
          <a:xfrm>
            <a:off x="640080" y="4343400"/>
            <a:ext cx="411480" cy="411480"/>
          </a:xfrm>
          <a:prstGeom prst="ellipse">
            <a:avLst/>
          </a:prstGeom>
          <a:solidFill>
            <a:srgbClr val="0D9488"/>
          </a:solidFill>
          <a:ln/>
        </p:spPr>
      </p:sp>
      <p:sp>
        <p:nvSpPr>
          <p:cNvPr id="24" name="Text 22"/>
          <p:cNvSpPr/>
          <p:nvPr/>
        </p:nvSpPr>
        <p:spPr>
          <a:xfrm>
            <a:off x="640080" y="434340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25" name="Text 23"/>
          <p:cNvSpPr/>
          <p:nvPr/>
        </p:nvSpPr>
        <p:spPr>
          <a:xfrm>
            <a:off x="1234440" y="4297680"/>
            <a:ext cx="3657600" cy="274320"/>
          </a:xfrm>
          <a:prstGeom prst="rect">
            <a:avLst/>
          </a:prstGeom>
          <a:noFill/>
          <a:ln/>
        </p:spPr>
        <p:txBody>
          <a:bodyPr wrap="square" lIns="0" tIns="0" rIns="0" bIns="0" rtlCol="0" anchor="ctr"/>
          <a:lstStyle/>
          <a:p>
            <a:pPr marL="0" indent="0" algn="l">
              <a:buNone/>
            </a:pPr>
            <a:r>
              <a:rPr lang="en-US" sz="1600" b="1" dirty="0">
                <a:solidFill>
                  <a:srgbClr val="1A2332"/>
                </a:solidFill>
                <a:latin typeface="Georgia" pitchFamily="34" charset="0"/>
                <a:ea typeface="Georgia" pitchFamily="34" charset="-122"/>
                <a:cs typeface="Georgia" pitchFamily="34" charset="-120"/>
              </a:rPr>
              <a:t>General Conclusions</a:t>
            </a:r>
            <a:endParaRPr lang="en-US" sz="1600" dirty="0"/>
          </a:p>
        </p:txBody>
      </p:sp>
      <p:sp>
        <p:nvSpPr>
          <p:cNvPr id="26" name="Text 24"/>
          <p:cNvSpPr/>
          <p:nvPr/>
        </p:nvSpPr>
        <p:spPr>
          <a:xfrm>
            <a:off x="1234440" y="4553712"/>
            <a:ext cx="6400800" cy="22860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Cross-dataset insights &amp; key takeaways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332"/>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600" b="1" dirty="0">
                <a:solidFill>
                  <a:srgbClr val="F1F5F9"/>
                </a:solidFill>
                <a:latin typeface="Georgia" pitchFamily="34" charset="0"/>
                <a:ea typeface="Georgia" pitchFamily="34" charset="-122"/>
                <a:cs typeface="Georgia" pitchFamily="34" charset="-120"/>
              </a:rPr>
              <a:t>INTRODUCTION</a:t>
            </a:r>
            <a:endParaRPr lang="en-US" sz="2600" dirty="0"/>
          </a:p>
        </p:txBody>
      </p:sp>
      <p:sp>
        <p:nvSpPr>
          <p:cNvPr id="4" name="Text 2"/>
          <p:cNvSpPr/>
          <p:nvPr/>
        </p:nvSpPr>
        <p:spPr>
          <a:xfrm>
            <a:off x="548640" y="1097280"/>
            <a:ext cx="8046720" cy="731520"/>
          </a:xfrm>
          <a:prstGeom prst="rect">
            <a:avLst/>
          </a:prstGeom>
          <a:noFill/>
          <a:ln/>
        </p:spPr>
        <p:txBody>
          <a:bodyPr wrap="square" rtlCol="0" anchor="t"/>
          <a:lstStyle/>
          <a:p>
            <a:pPr marL="0" indent="0" algn="l">
              <a:lnSpc>
                <a:spcPct val="130000"/>
              </a:lnSpc>
              <a:buNone/>
            </a:pPr>
            <a:r>
              <a:rPr lang="en-US" sz="1300" dirty="0">
                <a:solidFill>
                  <a:srgbClr val="1E293B"/>
                </a:solidFill>
                <a:latin typeface="Calibri" pitchFamily="34" charset="0"/>
                <a:ea typeface="Calibri" pitchFamily="34" charset="-122"/>
                <a:cs typeface="Calibri" pitchFamily="34" charset="-120"/>
              </a:rPr>
              <a:t>This project combines Machine Learning and Monte Carlo Simulation to predict the 2026 FIFA World Cup champion. We analyze 4 datasets to build a comprehensive view of each team's strength.</a:t>
            </a:r>
            <a:endParaRPr lang="en-US" sz="1300" dirty="0"/>
          </a:p>
        </p:txBody>
      </p:sp>
      <p:sp>
        <p:nvSpPr>
          <p:cNvPr id="5" name="Shape 3"/>
          <p:cNvSpPr/>
          <p:nvPr/>
        </p:nvSpPr>
        <p:spPr>
          <a:xfrm>
            <a:off x="411480" y="2103120"/>
            <a:ext cx="1965960" cy="2286000"/>
          </a:xfrm>
          <a:prstGeom prst="rect">
            <a:avLst/>
          </a:prstGeom>
          <a:solidFill>
            <a:srgbClr val="FFFFFF"/>
          </a:solidFill>
          <a:ln/>
          <a:effectLst>
            <a:outerShdw blurRad="50800" dist="25400" dir="8100000" algn="bl" rotWithShape="0">
              <a:srgbClr val="000000">
                <a:alpha val="10000"/>
              </a:srgbClr>
            </a:outerShdw>
          </a:effectLst>
        </p:spPr>
      </p:sp>
      <p:sp>
        <p:nvSpPr>
          <p:cNvPr id="6" name="Shape 4"/>
          <p:cNvSpPr/>
          <p:nvPr/>
        </p:nvSpPr>
        <p:spPr>
          <a:xfrm>
            <a:off x="411480" y="2103120"/>
            <a:ext cx="1965960" cy="73152"/>
          </a:xfrm>
          <a:prstGeom prst="rect">
            <a:avLst/>
          </a:prstGeom>
          <a:solidFill>
            <a:srgbClr val="4C72B0"/>
          </a:solidFill>
          <a:ln/>
        </p:spPr>
      </p:sp>
      <p:sp>
        <p:nvSpPr>
          <p:cNvPr id="7" name="Text 5"/>
          <p:cNvSpPr/>
          <p:nvPr/>
        </p:nvSpPr>
        <p:spPr>
          <a:xfrm>
            <a:off x="548640" y="2377440"/>
            <a:ext cx="1691640" cy="365760"/>
          </a:xfrm>
          <a:prstGeom prst="rect">
            <a:avLst/>
          </a:prstGeom>
          <a:noFill/>
          <a:ln/>
        </p:spPr>
        <p:txBody>
          <a:bodyPr wrap="square" rtlCol="0" anchor="ctr"/>
          <a:lstStyle/>
          <a:p>
            <a:pPr marL="0" indent="0" algn="l">
              <a:buNone/>
            </a:pPr>
            <a:r>
              <a:rPr lang="en-US" sz="1400" b="1" dirty="0">
                <a:solidFill>
                  <a:srgbClr val="1A2332"/>
                </a:solidFill>
                <a:latin typeface="Georgia" pitchFamily="34" charset="0"/>
                <a:ea typeface="Georgia" pitchFamily="34" charset="-122"/>
                <a:cs typeface="Georgia" pitchFamily="34" charset="-120"/>
              </a:rPr>
              <a:t>Transfermarkt</a:t>
            </a:r>
            <a:endParaRPr lang="en-US" sz="1400" dirty="0"/>
          </a:p>
        </p:txBody>
      </p:sp>
      <p:sp>
        <p:nvSpPr>
          <p:cNvPr id="8" name="Text 6"/>
          <p:cNvSpPr/>
          <p:nvPr/>
        </p:nvSpPr>
        <p:spPr>
          <a:xfrm>
            <a:off x="548640" y="2834640"/>
            <a:ext cx="1691640" cy="1097280"/>
          </a:xfrm>
          <a:prstGeom prst="rect">
            <a:avLst/>
          </a:prstGeom>
          <a:noFill/>
          <a:ln/>
        </p:spPr>
        <p:txBody>
          <a:bodyPr wrap="square" rtlCol="0" anchor="t"/>
          <a:lstStyle/>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70 teams · Market values,</a:t>
            </a:r>
            <a:endParaRPr lang="en-US" sz="1100" dirty="0"/>
          </a:p>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avg player worth, squad age</a:t>
            </a:r>
            <a:endParaRPr lang="en-US" sz="1100" dirty="0"/>
          </a:p>
        </p:txBody>
      </p:sp>
      <p:sp>
        <p:nvSpPr>
          <p:cNvPr id="9" name="Shape 7"/>
          <p:cNvSpPr/>
          <p:nvPr/>
        </p:nvSpPr>
        <p:spPr>
          <a:xfrm>
            <a:off x="2560320" y="2103120"/>
            <a:ext cx="1965960" cy="2286000"/>
          </a:xfrm>
          <a:prstGeom prst="rect">
            <a:avLst/>
          </a:prstGeom>
          <a:solidFill>
            <a:srgbClr val="FFFFFF"/>
          </a:solidFill>
          <a:ln/>
          <a:effectLst>
            <a:outerShdw blurRad="50800" dist="25400" dir="8100000" algn="bl" rotWithShape="0">
              <a:srgbClr val="000000">
                <a:alpha val="10000"/>
              </a:srgbClr>
            </a:outerShdw>
          </a:effectLst>
        </p:spPr>
      </p:sp>
      <p:sp>
        <p:nvSpPr>
          <p:cNvPr id="10" name="Shape 8"/>
          <p:cNvSpPr/>
          <p:nvPr/>
        </p:nvSpPr>
        <p:spPr>
          <a:xfrm>
            <a:off x="2560320" y="2103120"/>
            <a:ext cx="1965960" cy="73152"/>
          </a:xfrm>
          <a:prstGeom prst="rect">
            <a:avLst/>
          </a:prstGeom>
          <a:solidFill>
            <a:srgbClr val="55A868"/>
          </a:solidFill>
          <a:ln/>
        </p:spPr>
      </p:sp>
      <p:sp>
        <p:nvSpPr>
          <p:cNvPr id="11" name="Text 9"/>
          <p:cNvSpPr/>
          <p:nvPr/>
        </p:nvSpPr>
        <p:spPr>
          <a:xfrm>
            <a:off x="2697480" y="2377440"/>
            <a:ext cx="1691640" cy="365760"/>
          </a:xfrm>
          <a:prstGeom prst="rect">
            <a:avLst/>
          </a:prstGeom>
          <a:noFill/>
          <a:ln/>
        </p:spPr>
        <p:txBody>
          <a:bodyPr wrap="square" rtlCol="0" anchor="ctr"/>
          <a:lstStyle/>
          <a:p>
            <a:pPr marL="0" indent="0" algn="l">
              <a:buNone/>
            </a:pPr>
            <a:r>
              <a:rPr lang="en-US" sz="1400" b="1" dirty="0">
                <a:solidFill>
                  <a:srgbClr val="1A2332"/>
                </a:solidFill>
                <a:latin typeface="Georgia" pitchFamily="34" charset="0"/>
                <a:ea typeface="Georgia" pitchFamily="34" charset="-122"/>
                <a:cs typeface="Georgia" pitchFamily="34" charset="-120"/>
              </a:rPr>
              <a:t>Qualifiers</a:t>
            </a:r>
            <a:endParaRPr lang="en-US" sz="1400" dirty="0"/>
          </a:p>
        </p:txBody>
      </p:sp>
      <p:sp>
        <p:nvSpPr>
          <p:cNvPr id="12" name="Text 10"/>
          <p:cNvSpPr/>
          <p:nvPr/>
        </p:nvSpPr>
        <p:spPr>
          <a:xfrm>
            <a:off x="2697480" y="2834640"/>
            <a:ext cx="1691640" cy="1097280"/>
          </a:xfrm>
          <a:prstGeom prst="rect">
            <a:avLst/>
          </a:prstGeom>
          <a:noFill/>
          <a:ln/>
        </p:spPr>
        <p:txBody>
          <a:bodyPr wrap="square" rtlCol="0" anchor="t"/>
          <a:lstStyle/>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76 teams · Win%, goals,</a:t>
            </a:r>
            <a:endParaRPr lang="en-US" sz="1100" dirty="0"/>
          </a:p>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attack &amp; defense metrics</a:t>
            </a:r>
            <a:endParaRPr lang="en-US" sz="1100" dirty="0"/>
          </a:p>
        </p:txBody>
      </p:sp>
      <p:sp>
        <p:nvSpPr>
          <p:cNvPr id="13" name="Shape 11"/>
          <p:cNvSpPr/>
          <p:nvPr/>
        </p:nvSpPr>
        <p:spPr>
          <a:xfrm>
            <a:off x="4709160" y="2103120"/>
            <a:ext cx="1965960" cy="2286000"/>
          </a:xfrm>
          <a:prstGeom prst="rect">
            <a:avLst/>
          </a:prstGeom>
          <a:solidFill>
            <a:srgbClr val="FFFFFF"/>
          </a:solidFill>
          <a:ln/>
          <a:effectLst>
            <a:outerShdw blurRad="50800" dist="25400" dir="8100000" algn="bl" rotWithShape="0">
              <a:srgbClr val="000000">
                <a:alpha val="10000"/>
              </a:srgbClr>
            </a:outerShdw>
          </a:effectLst>
        </p:spPr>
      </p:sp>
      <p:sp>
        <p:nvSpPr>
          <p:cNvPr id="14" name="Shape 12"/>
          <p:cNvSpPr/>
          <p:nvPr/>
        </p:nvSpPr>
        <p:spPr>
          <a:xfrm>
            <a:off x="4709160" y="2103120"/>
            <a:ext cx="1965960" cy="73152"/>
          </a:xfrm>
          <a:prstGeom prst="rect">
            <a:avLst/>
          </a:prstGeom>
          <a:solidFill>
            <a:srgbClr val="DD8452"/>
          </a:solidFill>
          <a:ln/>
        </p:spPr>
      </p:sp>
      <p:sp>
        <p:nvSpPr>
          <p:cNvPr id="15" name="Text 13"/>
          <p:cNvSpPr/>
          <p:nvPr/>
        </p:nvSpPr>
        <p:spPr>
          <a:xfrm>
            <a:off x="4846320" y="2377440"/>
            <a:ext cx="1691640" cy="365760"/>
          </a:xfrm>
          <a:prstGeom prst="rect">
            <a:avLst/>
          </a:prstGeom>
          <a:noFill/>
          <a:ln/>
        </p:spPr>
        <p:txBody>
          <a:bodyPr wrap="square" rtlCol="0" anchor="ctr"/>
          <a:lstStyle/>
          <a:p>
            <a:pPr marL="0" indent="0" algn="l">
              <a:buNone/>
            </a:pPr>
            <a:r>
              <a:rPr lang="en-US" sz="1400" b="1" dirty="0">
                <a:solidFill>
                  <a:srgbClr val="1A2332"/>
                </a:solidFill>
                <a:latin typeface="Georgia" pitchFamily="34" charset="0"/>
                <a:ea typeface="Georgia" pitchFamily="34" charset="-122"/>
                <a:cs typeface="Georgia" pitchFamily="34" charset="-120"/>
              </a:rPr>
              <a:t>FIFA Ranking</a:t>
            </a:r>
            <a:endParaRPr lang="en-US" sz="1400" dirty="0"/>
          </a:p>
        </p:txBody>
      </p:sp>
      <p:sp>
        <p:nvSpPr>
          <p:cNvPr id="16" name="Text 14"/>
          <p:cNvSpPr/>
          <p:nvPr/>
        </p:nvSpPr>
        <p:spPr>
          <a:xfrm>
            <a:off x="4846320" y="2834640"/>
            <a:ext cx="1691640" cy="1097280"/>
          </a:xfrm>
          <a:prstGeom prst="rect">
            <a:avLst/>
          </a:prstGeom>
          <a:noFill/>
          <a:ln/>
        </p:spPr>
        <p:txBody>
          <a:bodyPr wrap="square" rtlCol="0" anchor="t"/>
          <a:lstStyle/>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2,176 records · Historical</a:t>
            </a:r>
            <a:endParaRPr lang="en-US" sz="1100" dirty="0"/>
          </a:p>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ranking 1993–2026</a:t>
            </a:r>
            <a:endParaRPr lang="en-US" sz="1100" dirty="0"/>
          </a:p>
        </p:txBody>
      </p:sp>
      <p:sp>
        <p:nvSpPr>
          <p:cNvPr id="17" name="Shape 15"/>
          <p:cNvSpPr/>
          <p:nvPr/>
        </p:nvSpPr>
        <p:spPr>
          <a:xfrm>
            <a:off x="6858000" y="2103120"/>
            <a:ext cx="1965960" cy="2286000"/>
          </a:xfrm>
          <a:prstGeom prst="rect">
            <a:avLst/>
          </a:prstGeom>
          <a:solidFill>
            <a:srgbClr val="FFFFFF"/>
          </a:solidFill>
          <a:ln/>
          <a:effectLst>
            <a:outerShdw blurRad="50800" dist="25400" dir="8100000" algn="bl" rotWithShape="0">
              <a:srgbClr val="000000">
                <a:alpha val="10000"/>
              </a:srgbClr>
            </a:outerShdw>
          </a:effectLst>
        </p:spPr>
      </p:sp>
      <p:sp>
        <p:nvSpPr>
          <p:cNvPr id="18" name="Shape 16"/>
          <p:cNvSpPr/>
          <p:nvPr/>
        </p:nvSpPr>
        <p:spPr>
          <a:xfrm>
            <a:off x="6858000" y="2103120"/>
            <a:ext cx="1965960" cy="73152"/>
          </a:xfrm>
          <a:prstGeom prst="rect">
            <a:avLst/>
          </a:prstGeom>
          <a:solidFill>
            <a:srgbClr val="8172B2"/>
          </a:solidFill>
          <a:ln/>
        </p:spPr>
      </p:sp>
      <p:sp>
        <p:nvSpPr>
          <p:cNvPr id="19" name="Text 17"/>
          <p:cNvSpPr/>
          <p:nvPr/>
        </p:nvSpPr>
        <p:spPr>
          <a:xfrm>
            <a:off x="6995160" y="2377440"/>
            <a:ext cx="1691640" cy="365760"/>
          </a:xfrm>
          <a:prstGeom prst="rect">
            <a:avLst/>
          </a:prstGeom>
          <a:noFill/>
          <a:ln/>
        </p:spPr>
        <p:txBody>
          <a:bodyPr wrap="square" rtlCol="0" anchor="ctr"/>
          <a:lstStyle/>
          <a:p>
            <a:pPr marL="0" indent="0" algn="l">
              <a:buNone/>
            </a:pPr>
            <a:r>
              <a:rPr lang="en-US" sz="1400" b="1" dirty="0">
                <a:solidFill>
                  <a:srgbClr val="1A2332"/>
                </a:solidFill>
                <a:latin typeface="Georgia" pitchFamily="34" charset="0"/>
                <a:ea typeface="Georgia" pitchFamily="34" charset="-122"/>
                <a:cs typeface="Georgia" pitchFamily="34" charset="-120"/>
              </a:rPr>
              <a:t>World Cup History</a:t>
            </a:r>
            <a:endParaRPr lang="en-US" sz="1400" dirty="0"/>
          </a:p>
        </p:txBody>
      </p:sp>
      <p:sp>
        <p:nvSpPr>
          <p:cNvPr id="20" name="Text 18"/>
          <p:cNvSpPr/>
          <p:nvPr/>
        </p:nvSpPr>
        <p:spPr>
          <a:xfrm>
            <a:off x="6995160" y="2834640"/>
            <a:ext cx="1691640" cy="1097280"/>
          </a:xfrm>
          <a:prstGeom prst="rect">
            <a:avLst/>
          </a:prstGeom>
          <a:noFill/>
          <a:ln/>
        </p:spPr>
        <p:txBody>
          <a:bodyPr wrap="square" rtlCol="0" anchor="t"/>
          <a:lstStyle/>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900 matches · Results</a:t>
            </a:r>
            <a:endParaRPr lang="en-US" sz="1100" dirty="0"/>
          </a:p>
          <a:p>
            <a:pPr marL="0" indent="0" algn="l">
              <a:lnSpc>
                <a:spcPct val="130000"/>
              </a:lnSpc>
              <a:buNone/>
            </a:pPr>
            <a:r>
              <a:rPr lang="en-US" sz="1100" dirty="0">
                <a:solidFill>
                  <a:srgbClr val="94A3B8"/>
                </a:solidFill>
                <a:latin typeface="Calibri" pitchFamily="34" charset="0"/>
                <a:ea typeface="Calibri" pitchFamily="34" charset="-122"/>
                <a:cs typeface="Calibri" pitchFamily="34" charset="-120"/>
              </a:rPr>
              <a:t>from 1930 to 2022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4C72B0"/>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200" b="1" dirty="0">
                <a:solidFill>
                  <a:srgbClr val="F1F5F9"/>
                </a:solidFill>
                <a:latin typeface="Georgia" pitchFamily="34" charset="0"/>
                <a:ea typeface="Georgia" pitchFamily="34" charset="-122"/>
                <a:cs typeface="Georgia" pitchFamily="34" charset="-120"/>
              </a:rPr>
              <a:t>TRANSFERMARKT — Top 15 by Market Value</a:t>
            </a:r>
            <a:endParaRPr lang="en-US" sz="2200" dirty="0"/>
          </a:p>
        </p:txBody>
      </p:sp>
      <p:pic>
        <p:nvPicPr>
          <p:cNvPr id="4" name="Image 0" descr="preencoded.png"/>
          <p:cNvPicPr>
            <a:picLocks noChangeAspect="1"/>
          </p:cNvPicPr>
          <p:nvPr/>
        </p:nvPicPr>
        <p:blipFill>
          <a:blip r:embed="rId3"/>
          <a:stretch>
            <a:fillRect/>
          </a:stretch>
        </p:blipFill>
        <p:spPr>
          <a:xfrm>
            <a:off x="274320" y="914400"/>
            <a:ext cx="5486400" cy="3291840"/>
          </a:xfrm>
          <a:prstGeom prst="rect">
            <a:avLst/>
          </a:prstGeom>
        </p:spPr>
      </p:pic>
      <p:sp>
        <p:nvSpPr>
          <p:cNvPr id="5" name="Shape 2"/>
          <p:cNvSpPr/>
          <p:nvPr/>
        </p:nvSpPr>
        <p:spPr>
          <a:xfrm>
            <a:off x="5943600" y="1097280"/>
            <a:ext cx="2926080" cy="2926080"/>
          </a:xfrm>
          <a:prstGeom prst="rect">
            <a:avLst/>
          </a:prstGeom>
          <a:solidFill>
            <a:srgbClr val="FFFFFF"/>
          </a:solidFill>
          <a:ln/>
          <a:effectLst>
            <a:outerShdw blurRad="50800" dist="25400" dir="8100000" algn="bl" rotWithShape="0">
              <a:srgbClr val="000000">
                <a:alpha val="10000"/>
              </a:srgbClr>
            </a:outerShdw>
          </a:effectLst>
        </p:spPr>
      </p:sp>
      <p:sp>
        <p:nvSpPr>
          <p:cNvPr id="6" name="Shape 3"/>
          <p:cNvSpPr/>
          <p:nvPr/>
        </p:nvSpPr>
        <p:spPr>
          <a:xfrm>
            <a:off x="5943600" y="1097280"/>
            <a:ext cx="64008" cy="2926080"/>
          </a:xfrm>
          <a:prstGeom prst="rect">
            <a:avLst/>
          </a:prstGeom>
          <a:solidFill>
            <a:srgbClr val="F59E0B"/>
          </a:solidFill>
          <a:ln/>
        </p:spPr>
      </p:sp>
      <p:sp>
        <p:nvSpPr>
          <p:cNvPr id="7" name="Text 4"/>
          <p:cNvSpPr/>
          <p:nvPr/>
        </p:nvSpPr>
        <p:spPr>
          <a:xfrm>
            <a:off x="6172200" y="1234440"/>
            <a:ext cx="2560320" cy="320040"/>
          </a:xfrm>
          <a:prstGeom prst="rect">
            <a:avLst/>
          </a:prstGeom>
          <a:noFill/>
          <a:ln/>
        </p:spPr>
        <p:txBody>
          <a:bodyPr wrap="square" lIns="0" tIns="0" rIns="0" bIns="0" rtlCol="0" anchor="ctr"/>
          <a:lstStyle/>
          <a:p>
            <a:pPr marL="0" indent="0" algn="l">
              <a:buNone/>
            </a:pPr>
            <a:r>
              <a:rPr lang="en-US" sz="1400" b="1" dirty="0">
                <a:solidFill>
                  <a:srgbClr val="1A2332"/>
                </a:solidFill>
                <a:latin typeface="Georgia" pitchFamily="34" charset="0"/>
                <a:ea typeface="Georgia" pitchFamily="34" charset="-122"/>
                <a:cs typeface="Georgia" pitchFamily="34" charset="-120"/>
              </a:rPr>
              <a:t>Key Insights</a:t>
            </a:r>
            <a:endParaRPr lang="en-US" sz="1400" dirty="0"/>
          </a:p>
        </p:txBody>
      </p:sp>
      <p:sp>
        <p:nvSpPr>
          <p:cNvPr id="8" name="Text 5"/>
          <p:cNvSpPr/>
          <p:nvPr/>
        </p:nvSpPr>
        <p:spPr>
          <a:xfrm>
            <a:off x="6172200" y="1600200"/>
            <a:ext cx="2606040" cy="2194560"/>
          </a:xfrm>
          <a:prstGeom prst="rect">
            <a:avLst/>
          </a:prstGeom>
          <a:noFill/>
          <a:ln/>
        </p:spPr>
        <p:txBody>
          <a:bodyPr wrap="square" rtlCol="0" anchor="t"/>
          <a:lstStyle/>
          <a:p>
            <a:pPr marL="342900" indent="-342900">
              <a:lnSpc>
                <a:spcPct val="1200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England leads at €1,300M</a:t>
            </a:r>
            <a:endParaRPr lang="en-US" sz="1100" dirty="0"/>
          </a:p>
          <a:p>
            <a:pPr marL="342900" indent="-342900">
              <a:lnSpc>
                <a:spcPct val="1200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Top 3 are all UEFA teams</a:t>
            </a:r>
            <a:endParaRPr lang="en-US" sz="1100" dirty="0"/>
          </a:p>
          <a:p>
            <a:pPr marL="342900" indent="-342900">
              <a:lnSpc>
                <a:spcPct val="1200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Brazil ranks 4th (€932M) — highest non-European team</a:t>
            </a:r>
            <a:endParaRPr lang="en-US" sz="1100" dirty="0"/>
          </a:p>
          <a:p>
            <a:pPr marL="342900" indent="-342900">
              <a:lnSpc>
                <a:spcPct val="1200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UEFA dominates: 12 of top 15 are European</a:t>
            </a:r>
            <a:endParaRPr lang="en-US" sz="1100" dirty="0"/>
          </a:p>
          <a:p>
            <a:pPr marL="342900" indent="-342900">
              <a:lnSpc>
                <a:spcPct val="120000"/>
              </a:lnSpc>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Value gap between #1 and #15 is ~5×</a:t>
            </a:r>
            <a:endParaRPr lang="en-US" sz="1100" dirty="0"/>
          </a:p>
        </p:txBody>
      </p:sp>
      <p:sp>
        <p:nvSpPr>
          <p:cNvPr id="9" name="Text 6"/>
          <p:cNvSpPr/>
          <p:nvPr/>
        </p:nvSpPr>
        <p:spPr>
          <a:xfrm>
            <a:off x="274320" y="4709160"/>
            <a:ext cx="4572000" cy="274320"/>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Source: Transfermarkt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4C72B0"/>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200" b="1" dirty="0">
                <a:solidFill>
                  <a:srgbClr val="F1F5F9"/>
                </a:solidFill>
                <a:latin typeface="Georgia" pitchFamily="34" charset="0"/>
                <a:ea typeface="Georgia" pitchFamily="34" charset="-122"/>
                <a:cs typeface="Georgia" pitchFamily="34" charset="-120"/>
              </a:rPr>
              <a:t>TRANSFERMARKT — Distribution &amp; Correlations</a:t>
            </a:r>
            <a:endParaRPr lang="en-US" sz="2200" dirty="0"/>
          </a:p>
        </p:txBody>
      </p:sp>
      <p:pic>
        <p:nvPicPr>
          <p:cNvPr id="4" name="Image 0" descr="preencoded.png"/>
          <p:cNvPicPr>
            <a:picLocks noChangeAspect="1"/>
          </p:cNvPicPr>
          <p:nvPr/>
        </p:nvPicPr>
        <p:blipFill>
          <a:blip r:embed="rId3"/>
          <a:stretch>
            <a:fillRect/>
          </a:stretch>
        </p:blipFill>
        <p:spPr>
          <a:xfrm>
            <a:off x="182880" y="914400"/>
            <a:ext cx="4846320" cy="2926080"/>
          </a:xfrm>
          <a:prstGeom prst="rect">
            <a:avLst/>
          </a:prstGeom>
        </p:spPr>
      </p:pic>
      <p:pic>
        <p:nvPicPr>
          <p:cNvPr id="5" name="Image 1" descr="preencoded.png"/>
          <p:cNvPicPr>
            <a:picLocks noChangeAspect="1"/>
          </p:cNvPicPr>
          <p:nvPr/>
        </p:nvPicPr>
        <p:blipFill>
          <a:blip r:embed="rId4"/>
          <a:stretch>
            <a:fillRect/>
          </a:stretch>
        </p:blipFill>
        <p:spPr>
          <a:xfrm>
            <a:off x="4846320" y="914400"/>
            <a:ext cx="4114800" cy="2926080"/>
          </a:xfrm>
          <a:prstGeom prst="rect">
            <a:avLst/>
          </a:prstGeom>
        </p:spPr>
      </p:pic>
      <p:sp>
        <p:nvSpPr>
          <p:cNvPr id="6" name="Shape 2"/>
          <p:cNvSpPr/>
          <p:nvPr/>
        </p:nvSpPr>
        <p:spPr>
          <a:xfrm>
            <a:off x="365760" y="3977640"/>
            <a:ext cx="8412480" cy="914400"/>
          </a:xfrm>
          <a:prstGeom prst="rect">
            <a:avLst/>
          </a:prstGeom>
          <a:solidFill>
            <a:srgbClr val="FFFFFF"/>
          </a:solidFill>
          <a:ln/>
          <a:effectLst>
            <a:outerShdw blurRad="50800" dist="25400" dir="8100000" algn="bl" rotWithShape="0">
              <a:srgbClr val="000000">
                <a:alpha val="10000"/>
              </a:srgbClr>
            </a:outerShdw>
          </a:effectLst>
        </p:spPr>
      </p:sp>
      <p:sp>
        <p:nvSpPr>
          <p:cNvPr id="7" name="Shape 3"/>
          <p:cNvSpPr/>
          <p:nvPr/>
        </p:nvSpPr>
        <p:spPr>
          <a:xfrm>
            <a:off x="365760" y="3977640"/>
            <a:ext cx="8412480" cy="54864"/>
          </a:xfrm>
          <a:prstGeom prst="rect">
            <a:avLst/>
          </a:prstGeom>
          <a:solidFill>
            <a:srgbClr val="0D9488"/>
          </a:solidFill>
          <a:ln/>
        </p:spPr>
      </p:sp>
      <p:sp>
        <p:nvSpPr>
          <p:cNvPr id="8" name="Text 4"/>
          <p:cNvSpPr/>
          <p:nvPr/>
        </p:nvSpPr>
        <p:spPr>
          <a:xfrm>
            <a:off x="548640" y="4114800"/>
            <a:ext cx="8046720" cy="685800"/>
          </a:xfrm>
          <a:prstGeom prst="rect">
            <a:avLst/>
          </a:prstGeom>
          <a:noFill/>
          <a:ln/>
        </p:spPr>
        <p:txBody>
          <a:bodyPr wrap="square" rtlCol="0" anchor="ctr"/>
          <a:lstStyle/>
          <a:p>
            <a:pPr marL="0" indent="0" algn="l">
              <a:lnSpc>
                <a:spcPct val="130000"/>
              </a:lnSpc>
              <a:buNone/>
            </a:pPr>
            <a:r>
              <a:rPr lang="en-US" sz="1100" dirty="0">
                <a:solidFill>
                  <a:srgbClr val="1E293B"/>
                </a:solidFill>
                <a:latin typeface="Calibri" pitchFamily="34" charset="0"/>
                <a:ea typeface="Calibri" pitchFamily="34" charset="-122"/>
                <a:cs typeface="Calibri" pitchFamily="34" charset="-120"/>
              </a:rPr>
              <a:t>Market value is heavily right-skewed — a small group of elite UEFA teams holds the bulk of the total value. The correlation between total squad value and average player value is very high (r ≈ 0.98), meaning individual talent and squad depth go hand in hand.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55A868"/>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200" b="1" dirty="0">
                <a:solidFill>
                  <a:srgbClr val="F1F5F9"/>
                </a:solidFill>
                <a:latin typeface="Georgia" pitchFamily="34" charset="0"/>
                <a:ea typeface="Georgia" pitchFamily="34" charset="-122"/>
                <a:cs typeface="Georgia" pitchFamily="34" charset="-120"/>
              </a:rPr>
              <a:t>QUALIFIERS — Top Win Rates</a:t>
            </a:r>
            <a:endParaRPr lang="en-US" sz="2200" dirty="0"/>
          </a:p>
        </p:txBody>
      </p:sp>
      <p:pic>
        <p:nvPicPr>
          <p:cNvPr id="4" name="Image 0" descr="preencoded.png"/>
          <p:cNvPicPr>
            <a:picLocks noChangeAspect="1"/>
          </p:cNvPicPr>
          <p:nvPr/>
        </p:nvPicPr>
        <p:blipFill>
          <a:blip r:embed="rId3"/>
          <a:stretch>
            <a:fillRect/>
          </a:stretch>
        </p:blipFill>
        <p:spPr>
          <a:xfrm>
            <a:off x="274320" y="914400"/>
            <a:ext cx="5303520" cy="3200400"/>
          </a:xfrm>
          <a:prstGeom prst="rect">
            <a:avLst/>
          </a:prstGeom>
        </p:spPr>
      </p:pic>
      <p:sp>
        <p:nvSpPr>
          <p:cNvPr id="5" name="Shape 2"/>
          <p:cNvSpPr/>
          <p:nvPr/>
        </p:nvSpPr>
        <p:spPr>
          <a:xfrm>
            <a:off x="5760720" y="1097280"/>
            <a:ext cx="3108960" cy="2926080"/>
          </a:xfrm>
          <a:prstGeom prst="rect">
            <a:avLst/>
          </a:prstGeom>
          <a:solidFill>
            <a:srgbClr val="FFFFFF"/>
          </a:solidFill>
          <a:ln/>
          <a:effectLst>
            <a:outerShdw blurRad="50800" dist="25400" dir="8100000" algn="bl" rotWithShape="0">
              <a:srgbClr val="000000">
                <a:alpha val="10000"/>
              </a:srgbClr>
            </a:outerShdw>
          </a:effectLst>
        </p:spPr>
      </p:sp>
      <p:sp>
        <p:nvSpPr>
          <p:cNvPr id="6" name="Shape 3"/>
          <p:cNvSpPr/>
          <p:nvPr/>
        </p:nvSpPr>
        <p:spPr>
          <a:xfrm>
            <a:off x="5760720" y="1097280"/>
            <a:ext cx="64008" cy="2926080"/>
          </a:xfrm>
          <a:prstGeom prst="rect">
            <a:avLst/>
          </a:prstGeom>
          <a:solidFill>
            <a:srgbClr val="F59E0B"/>
          </a:solidFill>
          <a:ln/>
        </p:spPr>
      </p:sp>
      <p:sp>
        <p:nvSpPr>
          <p:cNvPr id="7" name="Text 4"/>
          <p:cNvSpPr/>
          <p:nvPr/>
        </p:nvSpPr>
        <p:spPr>
          <a:xfrm>
            <a:off x="5989320" y="1234440"/>
            <a:ext cx="2743200" cy="320040"/>
          </a:xfrm>
          <a:prstGeom prst="rect">
            <a:avLst/>
          </a:prstGeom>
          <a:noFill/>
          <a:ln/>
        </p:spPr>
        <p:txBody>
          <a:bodyPr wrap="square" lIns="0" tIns="0" rIns="0" bIns="0" rtlCol="0" anchor="ctr"/>
          <a:lstStyle/>
          <a:p>
            <a:pPr marL="0" indent="0" algn="l">
              <a:buNone/>
            </a:pPr>
            <a:r>
              <a:rPr lang="en-US" sz="1400" b="1" dirty="0">
                <a:solidFill>
                  <a:srgbClr val="1A2332"/>
                </a:solidFill>
                <a:latin typeface="Georgia" pitchFamily="34" charset="0"/>
                <a:ea typeface="Georgia" pitchFamily="34" charset="-122"/>
                <a:cs typeface="Georgia" pitchFamily="34" charset="-120"/>
              </a:rPr>
              <a:t>Key Insights</a:t>
            </a:r>
            <a:endParaRPr lang="en-US" sz="1400" dirty="0"/>
          </a:p>
        </p:txBody>
      </p:sp>
      <p:sp>
        <p:nvSpPr>
          <p:cNvPr id="8" name="Text 5"/>
          <p:cNvSpPr/>
          <p:nvPr/>
        </p:nvSpPr>
        <p:spPr>
          <a:xfrm>
            <a:off x="5989320" y="1600200"/>
            <a:ext cx="2743200" cy="2194560"/>
          </a:xfrm>
          <a:prstGeom prst="rect">
            <a:avLst/>
          </a:prstGeom>
          <a:noFill/>
          <a:ln/>
        </p:spPr>
        <p:txBody>
          <a:bodyPr wrap="square" rtlCol="0" anchor="t"/>
          <a:lstStyle/>
          <a:p>
            <a:pPr marL="342900" indent="-342900">
              <a:lnSpc>
                <a:spcPct val="120000"/>
              </a:lnSpc>
              <a:spcAft>
                <a:spcPts val="800"/>
              </a:spcAft>
              <a:buSzPct val="100000"/>
              <a:buChar char="•"/>
            </a:pPr>
            <a:r>
              <a:rPr lang="en-US" sz="1100" dirty="0">
                <a:solidFill>
                  <a:srgbClr val="1E293B"/>
                </a:solidFill>
                <a:latin typeface="Calibri" pitchFamily="34" charset="0"/>
                <a:ea typeface="Calibri" pitchFamily="34" charset="-122"/>
                <a:cs typeface="Calibri" pitchFamily="34" charset="-120"/>
              </a:rPr>
              <a:t>Norway, England, Japan and Australia achieved 100% win rate in group stages</a:t>
            </a:r>
            <a:endParaRPr lang="en-US" sz="1100" dirty="0"/>
          </a:p>
          <a:p>
            <a:pPr marL="342900" indent="-342900">
              <a:lnSpc>
                <a:spcPct val="120000"/>
              </a:lnSpc>
              <a:spcAft>
                <a:spcPts val="800"/>
              </a:spcAft>
              <a:buSzPct val="100000"/>
              <a:buChar char="•"/>
            </a:pPr>
            <a:r>
              <a:rPr lang="en-US" sz="1100" dirty="0">
                <a:solidFill>
                  <a:srgbClr val="1E293B"/>
                </a:solidFill>
                <a:latin typeface="Calibri" pitchFamily="34" charset="0"/>
                <a:ea typeface="Calibri" pitchFamily="34" charset="-122"/>
                <a:cs typeface="Calibri" pitchFamily="34" charset="-120"/>
              </a:rPr>
              <a:t>UEFA has the most qualified teams (28), followed by CAF (10) and AFC (9)</a:t>
            </a:r>
            <a:endParaRPr lang="en-US" sz="1100" dirty="0"/>
          </a:p>
          <a:p>
            <a:pPr marL="342900" indent="-342900">
              <a:lnSpc>
                <a:spcPct val="120000"/>
              </a:lnSpc>
              <a:spcAft>
                <a:spcPts val="800"/>
              </a:spcAft>
              <a:buSzPct val="100000"/>
              <a:buChar char="•"/>
            </a:pPr>
            <a:r>
              <a:rPr lang="en-US" sz="1100" dirty="0">
                <a:solidFill>
                  <a:srgbClr val="1E293B"/>
                </a:solidFill>
                <a:latin typeface="Calibri" pitchFamily="34" charset="0"/>
                <a:ea typeface="Calibri" pitchFamily="34" charset="-122"/>
                <a:cs typeface="Calibri" pitchFamily="34" charset="-120"/>
              </a:rPr>
              <a:t>Confirmed teams have ~2× higher win% than playoff teams</a:t>
            </a:r>
            <a:endParaRPr lang="en-US" sz="1100" dirty="0"/>
          </a:p>
        </p:txBody>
      </p:sp>
      <p:sp>
        <p:nvSpPr>
          <p:cNvPr id="9" name="Text 6"/>
          <p:cNvSpPr/>
          <p:nvPr/>
        </p:nvSpPr>
        <p:spPr>
          <a:xfrm>
            <a:off x="274320" y="4709160"/>
            <a:ext cx="5486400" cy="274320"/>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Source: Combined qualifier data from all 6 confederations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55A868"/>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000" b="1" dirty="0">
                <a:solidFill>
                  <a:srgbClr val="F1F5F9"/>
                </a:solidFill>
                <a:latin typeface="Georgia" pitchFamily="34" charset="0"/>
                <a:ea typeface="Georgia" pitchFamily="34" charset="-122"/>
                <a:cs typeface="Georgia" pitchFamily="34" charset="-120"/>
              </a:rPr>
              <a:t>QUALIFIERS — Attack vs Defense &amp; Status Comparison</a:t>
            </a:r>
            <a:endParaRPr lang="en-US" sz="2000" dirty="0"/>
          </a:p>
        </p:txBody>
      </p:sp>
      <p:pic>
        <p:nvPicPr>
          <p:cNvPr id="4" name="Image 0" descr="preencoded.png"/>
          <p:cNvPicPr>
            <a:picLocks noChangeAspect="1"/>
          </p:cNvPicPr>
          <p:nvPr/>
        </p:nvPicPr>
        <p:blipFill>
          <a:blip r:embed="rId3"/>
          <a:stretch>
            <a:fillRect/>
          </a:stretch>
        </p:blipFill>
        <p:spPr>
          <a:xfrm>
            <a:off x="182880" y="914400"/>
            <a:ext cx="4572000" cy="2743200"/>
          </a:xfrm>
          <a:prstGeom prst="rect">
            <a:avLst/>
          </a:prstGeom>
        </p:spPr>
      </p:pic>
      <p:pic>
        <p:nvPicPr>
          <p:cNvPr id="5" name="Image 1" descr="preencoded.png"/>
          <p:cNvPicPr>
            <a:picLocks noChangeAspect="1"/>
          </p:cNvPicPr>
          <p:nvPr/>
        </p:nvPicPr>
        <p:blipFill>
          <a:blip r:embed="rId4"/>
          <a:stretch>
            <a:fillRect/>
          </a:stretch>
        </p:blipFill>
        <p:spPr>
          <a:xfrm>
            <a:off x="4572000" y="914400"/>
            <a:ext cx="4389120" cy="2560320"/>
          </a:xfrm>
          <a:prstGeom prst="rect">
            <a:avLst/>
          </a:prstGeom>
        </p:spPr>
      </p:pic>
      <p:sp>
        <p:nvSpPr>
          <p:cNvPr id="6" name="Shape 2"/>
          <p:cNvSpPr/>
          <p:nvPr/>
        </p:nvSpPr>
        <p:spPr>
          <a:xfrm>
            <a:off x="365760" y="3794760"/>
            <a:ext cx="8412480" cy="1097280"/>
          </a:xfrm>
          <a:prstGeom prst="rect">
            <a:avLst/>
          </a:prstGeom>
          <a:solidFill>
            <a:srgbClr val="FFFFFF"/>
          </a:solidFill>
          <a:ln/>
          <a:effectLst>
            <a:outerShdw blurRad="50800" dist="25400" dir="8100000" algn="bl" rotWithShape="0">
              <a:srgbClr val="000000">
                <a:alpha val="10000"/>
              </a:srgbClr>
            </a:outerShdw>
          </a:effectLst>
        </p:spPr>
      </p:sp>
      <p:sp>
        <p:nvSpPr>
          <p:cNvPr id="7" name="Shape 3"/>
          <p:cNvSpPr/>
          <p:nvPr/>
        </p:nvSpPr>
        <p:spPr>
          <a:xfrm>
            <a:off x="365760" y="3794760"/>
            <a:ext cx="8412480" cy="54864"/>
          </a:xfrm>
          <a:prstGeom prst="rect">
            <a:avLst/>
          </a:prstGeom>
          <a:solidFill>
            <a:srgbClr val="0D9488"/>
          </a:solidFill>
          <a:ln/>
        </p:spPr>
      </p:sp>
      <p:sp>
        <p:nvSpPr>
          <p:cNvPr id="8" name="Text 4"/>
          <p:cNvSpPr/>
          <p:nvPr/>
        </p:nvSpPr>
        <p:spPr>
          <a:xfrm>
            <a:off x="548640" y="3931920"/>
            <a:ext cx="8046720" cy="822960"/>
          </a:xfrm>
          <a:prstGeom prst="rect">
            <a:avLst/>
          </a:prstGeom>
          <a:noFill/>
          <a:ln/>
        </p:spPr>
        <p:txBody>
          <a:bodyPr wrap="square" rtlCol="0" anchor="ctr"/>
          <a:lstStyle/>
          <a:p>
            <a:pPr marL="0" indent="0" algn="l">
              <a:lnSpc>
                <a:spcPct val="130000"/>
              </a:lnSpc>
              <a:buNone/>
            </a:pPr>
            <a:r>
              <a:rPr lang="en-US" sz="1100" dirty="0">
                <a:solidFill>
                  <a:srgbClr val="1E293B"/>
                </a:solidFill>
                <a:latin typeface="Calibri" pitchFamily="34" charset="0"/>
                <a:ea typeface="Calibri" pitchFamily="34" charset="-122"/>
                <a:cs typeface="Calibri" pitchFamily="34" charset="-120"/>
              </a:rPr>
              <a:t>The ideal quadrant (high attack, low goals conceded) is dominated by UEFA teams. Confirmed teams consistently outperform playoff teams across all metrics — win%, goals scored, and goals conceded — showing that direct qualification is a reliable quality indicator.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D8452"/>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000" b="1" dirty="0">
                <a:solidFill>
                  <a:srgbClr val="F1F5F9"/>
                </a:solidFill>
                <a:latin typeface="Georgia" pitchFamily="34" charset="0"/>
                <a:ea typeface="Georgia" pitchFamily="34" charset="-122"/>
                <a:cs typeface="Georgia" pitchFamily="34" charset="-120"/>
              </a:rPr>
              <a:t>FIFA RANKING — Top 20 (2026) &amp; Historical Evolution</a:t>
            </a:r>
            <a:endParaRPr lang="en-US" sz="2000" dirty="0"/>
          </a:p>
        </p:txBody>
      </p:sp>
      <p:pic>
        <p:nvPicPr>
          <p:cNvPr id="4" name="Image 0" descr="preencoded.png"/>
          <p:cNvPicPr>
            <a:picLocks noChangeAspect="1"/>
          </p:cNvPicPr>
          <p:nvPr/>
        </p:nvPicPr>
        <p:blipFill>
          <a:blip r:embed="rId3"/>
          <a:stretch>
            <a:fillRect/>
          </a:stretch>
        </p:blipFill>
        <p:spPr>
          <a:xfrm>
            <a:off x="182880" y="914400"/>
            <a:ext cx="4389120" cy="3108960"/>
          </a:xfrm>
          <a:prstGeom prst="rect">
            <a:avLst/>
          </a:prstGeom>
        </p:spPr>
      </p:pic>
      <p:pic>
        <p:nvPicPr>
          <p:cNvPr id="5" name="Image 1" descr="preencoded.png"/>
          <p:cNvPicPr>
            <a:picLocks noChangeAspect="1"/>
          </p:cNvPicPr>
          <p:nvPr/>
        </p:nvPicPr>
        <p:blipFill>
          <a:blip r:embed="rId4"/>
          <a:stretch>
            <a:fillRect/>
          </a:stretch>
        </p:blipFill>
        <p:spPr>
          <a:xfrm>
            <a:off x="4572000" y="914400"/>
            <a:ext cx="4389120" cy="2743200"/>
          </a:xfrm>
          <a:prstGeom prst="rect">
            <a:avLst/>
          </a:prstGeom>
        </p:spPr>
      </p:pic>
      <p:sp>
        <p:nvSpPr>
          <p:cNvPr id="6" name="Shape 2"/>
          <p:cNvSpPr/>
          <p:nvPr/>
        </p:nvSpPr>
        <p:spPr>
          <a:xfrm>
            <a:off x="365760" y="4160520"/>
            <a:ext cx="8412480" cy="777240"/>
          </a:xfrm>
          <a:prstGeom prst="rect">
            <a:avLst/>
          </a:prstGeom>
          <a:solidFill>
            <a:srgbClr val="FFFFFF"/>
          </a:solidFill>
          <a:ln/>
          <a:effectLst>
            <a:outerShdw blurRad="50800" dist="25400" dir="8100000" algn="bl" rotWithShape="0">
              <a:srgbClr val="000000">
                <a:alpha val="10000"/>
              </a:srgbClr>
            </a:outerShdw>
          </a:effectLst>
        </p:spPr>
      </p:sp>
      <p:sp>
        <p:nvSpPr>
          <p:cNvPr id="7" name="Shape 3"/>
          <p:cNvSpPr/>
          <p:nvPr/>
        </p:nvSpPr>
        <p:spPr>
          <a:xfrm>
            <a:off x="365760" y="4160520"/>
            <a:ext cx="8412480" cy="54864"/>
          </a:xfrm>
          <a:prstGeom prst="rect">
            <a:avLst/>
          </a:prstGeom>
          <a:solidFill>
            <a:srgbClr val="0D9488"/>
          </a:solidFill>
          <a:ln/>
        </p:spPr>
      </p:sp>
      <p:sp>
        <p:nvSpPr>
          <p:cNvPr id="8" name="Text 4"/>
          <p:cNvSpPr/>
          <p:nvPr/>
        </p:nvSpPr>
        <p:spPr>
          <a:xfrm>
            <a:off x="548640" y="4297680"/>
            <a:ext cx="8046720" cy="548640"/>
          </a:xfrm>
          <a:prstGeom prst="rect">
            <a:avLst/>
          </a:prstGeom>
          <a:noFill/>
          <a:ln/>
        </p:spPr>
        <p:txBody>
          <a:bodyPr wrap="square" rtlCol="0" anchor="ctr"/>
          <a:lstStyle/>
          <a:p>
            <a:pPr marL="0" indent="0" algn="l">
              <a:lnSpc>
                <a:spcPct val="130000"/>
              </a:lnSpc>
              <a:buNone/>
            </a:pPr>
            <a:r>
              <a:rPr lang="en-US" sz="1100" dirty="0">
                <a:solidFill>
                  <a:srgbClr val="1E293B"/>
                </a:solidFill>
                <a:latin typeface="Calibri" pitchFamily="34" charset="0"/>
                <a:ea typeface="Calibri" pitchFamily="34" charset="-122"/>
                <a:cs typeface="Calibri" pitchFamily="34" charset="-120"/>
              </a:rPr>
              <a:t>UEFA dominates the top positions. Brazil, Argentina, and France have consistently stayed in the top 10 over the past three decades. Elite teams show remarkable ranking stability compared to emerging sides.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DD8452"/>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200" b="1" dirty="0">
                <a:solidFill>
                  <a:srgbClr val="F1F5F9"/>
                </a:solidFill>
                <a:latin typeface="Georgia" pitchFamily="34" charset="0"/>
                <a:ea typeface="Georgia" pitchFamily="34" charset="-122"/>
                <a:cs typeface="Georgia" pitchFamily="34" charset="-120"/>
              </a:rPr>
              <a:t>FIFA RANKING — Stability vs Volatility</a:t>
            </a:r>
            <a:endParaRPr lang="en-US" sz="2200" dirty="0"/>
          </a:p>
        </p:txBody>
      </p:sp>
      <p:pic>
        <p:nvPicPr>
          <p:cNvPr id="4" name="Image 0" descr="preencoded.png"/>
          <p:cNvPicPr>
            <a:picLocks noChangeAspect="1"/>
          </p:cNvPicPr>
          <p:nvPr/>
        </p:nvPicPr>
        <p:blipFill>
          <a:blip r:embed="rId3"/>
          <a:stretch>
            <a:fillRect/>
          </a:stretch>
        </p:blipFill>
        <p:spPr>
          <a:xfrm>
            <a:off x="274320" y="1005840"/>
            <a:ext cx="8595360" cy="3017520"/>
          </a:xfrm>
          <a:prstGeom prst="rect">
            <a:avLst/>
          </a:prstGeom>
        </p:spPr>
      </p:pic>
      <p:sp>
        <p:nvSpPr>
          <p:cNvPr id="5" name="Shape 2"/>
          <p:cNvSpPr/>
          <p:nvPr/>
        </p:nvSpPr>
        <p:spPr>
          <a:xfrm>
            <a:off x="365760" y="4160520"/>
            <a:ext cx="8412480" cy="777240"/>
          </a:xfrm>
          <a:prstGeom prst="rect">
            <a:avLst/>
          </a:prstGeom>
          <a:solidFill>
            <a:srgbClr val="FFFFFF"/>
          </a:solidFill>
          <a:ln/>
          <a:effectLst>
            <a:outerShdw blurRad="50800" dist="25400" dir="8100000" algn="bl" rotWithShape="0">
              <a:srgbClr val="000000">
                <a:alpha val="10000"/>
              </a:srgbClr>
            </a:outerShdw>
          </a:effectLst>
        </p:spPr>
      </p:sp>
      <p:sp>
        <p:nvSpPr>
          <p:cNvPr id="6" name="Shape 3"/>
          <p:cNvSpPr/>
          <p:nvPr/>
        </p:nvSpPr>
        <p:spPr>
          <a:xfrm>
            <a:off x="365760" y="4160520"/>
            <a:ext cx="8412480" cy="54864"/>
          </a:xfrm>
          <a:prstGeom prst="rect">
            <a:avLst/>
          </a:prstGeom>
          <a:solidFill>
            <a:srgbClr val="0D9488"/>
          </a:solidFill>
          <a:ln/>
        </p:spPr>
      </p:sp>
      <p:sp>
        <p:nvSpPr>
          <p:cNvPr id="7" name="Text 4"/>
          <p:cNvSpPr/>
          <p:nvPr/>
        </p:nvSpPr>
        <p:spPr>
          <a:xfrm>
            <a:off x="548640" y="4297680"/>
            <a:ext cx="8046720" cy="548640"/>
          </a:xfrm>
          <a:prstGeom prst="rect">
            <a:avLst/>
          </a:prstGeom>
          <a:noFill/>
          <a:ln/>
        </p:spPr>
        <p:txBody>
          <a:bodyPr wrap="square" rtlCol="0" anchor="ctr"/>
          <a:lstStyle/>
          <a:p>
            <a:pPr marL="0" indent="0" algn="l">
              <a:lnSpc>
                <a:spcPct val="130000"/>
              </a:lnSpc>
              <a:buNone/>
            </a:pPr>
            <a:r>
              <a:rPr lang="en-US" sz="1100" dirty="0">
                <a:solidFill>
                  <a:srgbClr val="1E293B"/>
                </a:solidFill>
                <a:latin typeface="Calibri" pitchFamily="34" charset="0"/>
                <a:ea typeface="Calibri" pitchFamily="34" charset="-122"/>
                <a:cs typeface="Calibri" pitchFamily="34" charset="-120"/>
              </a:rPr>
              <a:t>The most volatile teams have experienced dramatic rises or falls — often newly emerging sides. In contrast, traditional powerhouses like Brazil, Germany, and France maintain remarkably low ranking deviation over the 1993–2026 period.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172B2"/>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200" b="1" dirty="0">
                <a:solidFill>
                  <a:srgbClr val="F1F5F9"/>
                </a:solidFill>
                <a:latin typeface="Georgia" pitchFamily="34" charset="0"/>
                <a:ea typeface="Georgia" pitchFamily="34" charset="-122"/>
                <a:cs typeface="Georgia" pitchFamily="34" charset="-120"/>
              </a:rPr>
              <a:t>WORLD CUP HISTORY — All-Time Champions</a:t>
            </a:r>
            <a:endParaRPr lang="en-US" sz="2200" dirty="0"/>
          </a:p>
        </p:txBody>
      </p:sp>
      <p:pic>
        <p:nvPicPr>
          <p:cNvPr id="4" name="Image 0" descr="preencoded.png"/>
          <p:cNvPicPr>
            <a:picLocks noChangeAspect="1"/>
          </p:cNvPicPr>
          <p:nvPr/>
        </p:nvPicPr>
        <p:blipFill>
          <a:blip r:embed="rId3"/>
          <a:stretch>
            <a:fillRect/>
          </a:stretch>
        </p:blipFill>
        <p:spPr>
          <a:xfrm>
            <a:off x="274320" y="914400"/>
            <a:ext cx="5029200" cy="3017520"/>
          </a:xfrm>
          <a:prstGeom prst="rect">
            <a:avLst/>
          </a:prstGeom>
        </p:spPr>
      </p:pic>
      <p:sp>
        <p:nvSpPr>
          <p:cNvPr id="5" name="Shape 2"/>
          <p:cNvSpPr/>
          <p:nvPr/>
        </p:nvSpPr>
        <p:spPr>
          <a:xfrm>
            <a:off x="5669280" y="1005840"/>
            <a:ext cx="3200400" cy="822960"/>
          </a:xfrm>
          <a:prstGeom prst="rect">
            <a:avLst/>
          </a:prstGeom>
          <a:solidFill>
            <a:srgbClr val="FFFFFF"/>
          </a:solidFill>
          <a:ln/>
          <a:effectLst>
            <a:outerShdw blurRad="50800" dist="25400" dir="8100000" algn="bl" rotWithShape="0">
              <a:srgbClr val="000000">
                <a:alpha val="10000"/>
              </a:srgbClr>
            </a:outerShdw>
          </a:effectLst>
        </p:spPr>
      </p:sp>
      <p:sp>
        <p:nvSpPr>
          <p:cNvPr id="6" name="Shape 3"/>
          <p:cNvSpPr/>
          <p:nvPr/>
        </p:nvSpPr>
        <p:spPr>
          <a:xfrm>
            <a:off x="5669280" y="1005840"/>
            <a:ext cx="64008" cy="822960"/>
          </a:xfrm>
          <a:prstGeom prst="rect">
            <a:avLst/>
          </a:prstGeom>
          <a:solidFill>
            <a:srgbClr val="8172B2"/>
          </a:solidFill>
          <a:ln/>
        </p:spPr>
      </p:sp>
      <p:sp>
        <p:nvSpPr>
          <p:cNvPr id="7" name="Text 4"/>
          <p:cNvSpPr/>
          <p:nvPr/>
        </p:nvSpPr>
        <p:spPr>
          <a:xfrm>
            <a:off x="5897880" y="1051560"/>
            <a:ext cx="2834640" cy="365760"/>
          </a:xfrm>
          <a:prstGeom prst="rect">
            <a:avLst/>
          </a:prstGeom>
          <a:noFill/>
          <a:ln/>
        </p:spPr>
        <p:txBody>
          <a:bodyPr wrap="square" lIns="0" tIns="0" rIns="0" bIns="0" rtlCol="0" anchor="ctr"/>
          <a:lstStyle/>
          <a:p>
            <a:pPr marL="0" indent="0" algn="l">
              <a:buNone/>
            </a:pPr>
            <a:r>
              <a:rPr lang="en-US" sz="2000" b="1" dirty="0">
                <a:solidFill>
                  <a:srgbClr val="1A2332"/>
                </a:solidFill>
                <a:latin typeface="Georgia" pitchFamily="34" charset="0"/>
                <a:ea typeface="Georgia" pitchFamily="34" charset="-122"/>
                <a:cs typeface="Georgia" pitchFamily="34" charset="-120"/>
              </a:rPr>
              <a:t>21</a:t>
            </a:r>
            <a:endParaRPr lang="en-US" sz="2000" dirty="0"/>
          </a:p>
        </p:txBody>
      </p:sp>
      <p:sp>
        <p:nvSpPr>
          <p:cNvPr id="8" name="Text 5"/>
          <p:cNvSpPr/>
          <p:nvPr/>
        </p:nvSpPr>
        <p:spPr>
          <a:xfrm>
            <a:off x="5897880" y="1463040"/>
            <a:ext cx="2834640" cy="274320"/>
          </a:xfrm>
          <a:prstGeom prst="rect">
            <a:avLst/>
          </a:prstGeom>
          <a:noFill/>
          <a:ln/>
        </p:spPr>
        <p:txBody>
          <a:bodyPr wrap="square" lIns="0" tIns="0" rIns="0" bIns="0" rtlCol="0" anchor="t"/>
          <a:lstStyle/>
          <a:p>
            <a:pPr marL="0" indent="0" algn="l">
              <a:buNone/>
            </a:pPr>
            <a:r>
              <a:rPr lang="en-US" sz="1000" dirty="0">
                <a:solidFill>
                  <a:srgbClr val="94A3B8"/>
                </a:solidFill>
                <a:latin typeface="Calibri" pitchFamily="34" charset="0"/>
                <a:ea typeface="Calibri" pitchFamily="34" charset="-122"/>
                <a:cs typeface="Calibri" pitchFamily="34" charset="-120"/>
              </a:rPr>
              <a:t>1930 – 2022</a:t>
            </a:r>
            <a:endParaRPr lang="en-US" sz="1000" dirty="0"/>
          </a:p>
        </p:txBody>
      </p:sp>
      <p:sp>
        <p:nvSpPr>
          <p:cNvPr id="9" name="Shape 6"/>
          <p:cNvSpPr/>
          <p:nvPr/>
        </p:nvSpPr>
        <p:spPr>
          <a:xfrm>
            <a:off x="5669280" y="2011680"/>
            <a:ext cx="3200400" cy="822960"/>
          </a:xfrm>
          <a:prstGeom prst="rect">
            <a:avLst/>
          </a:prstGeom>
          <a:solidFill>
            <a:srgbClr val="FFFFFF"/>
          </a:solidFill>
          <a:ln/>
          <a:effectLst>
            <a:outerShdw blurRad="50800" dist="25400" dir="8100000" algn="bl" rotWithShape="0">
              <a:srgbClr val="000000">
                <a:alpha val="10000"/>
              </a:srgbClr>
            </a:outerShdw>
          </a:effectLst>
        </p:spPr>
      </p:sp>
      <p:sp>
        <p:nvSpPr>
          <p:cNvPr id="10" name="Shape 7"/>
          <p:cNvSpPr/>
          <p:nvPr/>
        </p:nvSpPr>
        <p:spPr>
          <a:xfrm>
            <a:off x="5669280" y="2011680"/>
            <a:ext cx="64008" cy="822960"/>
          </a:xfrm>
          <a:prstGeom prst="rect">
            <a:avLst/>
          </a:prstGeom>
          <a:solidFill>
            <a:srgbClr val="8172B2"/>
          </a:solidFill>
          <a:ln/>
        </p:spPr>
      </p:sp>
      <p:sp>
        <p:nvSpPr>
          <p:cNvPr id="11" name="Text 8"/>
          <p:cNvSpPr/>
          <p:nvPr/>
        </p:nvSpPr>
        <p:spPr>
          <a:xfrm>
            <a:off x="5897880" y="2057400"/>
            <a:ext cx="2834640" cy="365760"/>
          </a:xfrm>
          <a:prstGeom prst="rect">
            <a:avLst/>
          </a:prstGeom>
          <a:noFill/>
          <a:ln/>
        </p:spPr>
        <p:txBody>
          <a:bodyPr wrap="square" lIns="0" tIns="0" rIns="0" bIns="0" rtlCol="0" anchor="ctr"/>
          <a:lstStyle/>
          <a:p>
            <a:pPr marL="0" indent="0" algn="l">
              <a:buNone/>
            </a:pPr>
            <a:r>
              <a:rPr lang="en-US" sz="2000" b="1" dirty="0">
                <a:solidFill>
                  <a:srgbClr val="1A2332"/>
                </a:solidFill>
                <a:latin typeface="Georgia" pitchFamily="34" charset="0"/>
                <a:ea typeface="Georgia" pitchFamily="34" charset="-122"/>
                <a:cs typeface="Georgia" pitchFamily="34" charset="-120"/>
              </a:rPr>
              <a:t>900</a:t>
            </a:r>
            <a:endParaRPr lang="en-US" sz="2000" dirty="0"/>
          </a:p>
        </p:txBody>
      </p:sp>
      <p:sp>
        <p:nvSpPr>
          <p:cNvPr id="12" name="Text 9"/>
          <p:cNvSpPr/>
          <p:nvPr/>
        </p:nvSpPr>
        <p:spPr>
          <a:xfrm>
            <a:off x="5897880" y="2468880"/>
            <a:ext cx="2834640" cy="274320"/>
          </a:xfrm>
          <a:prstGeom prst="rect">
            <a:avLst/>
          </a:prstGeom>
          <a:noFill/>
          <a:ln/>
        </p:spPr>
        <p:txBody>
          <a:bodyPr wrap="square" lIns="0" tIns="0" rIns="0" bIns="0" rtlCol="0" anchor="t"/>
          <a:lstStyle/>
          <a:p>
            <a:pPr marL="0" indent="0" algn="l">
              <a:buNone/>
            </a:pPr>
            <a:r>
              <a:rPr lang="en-US" sz="1000" dirty="0">
                <a:solidFill>
                  <a:srgbClr val="94A3B8"/>
                </a:solidFill>
                <a:latin typeface="Calibri" pitchFamily="34" charset="0"/>
                <a:ea typeface="Calibri" pitchFamily="34" charset="-122"/>
                <a:cs typeface="Calibri" pitchFamily="34" charset="-120"/>
              </a:rPr>
              <a:t>across 92 years</a:t>
            </a:r>
            <a:endParaRPr lang="en-US" sz="1000" dirty="0"/>
          </a:p>
        </p:txBody>
      </p:sp>
      <p:sp>
        <p:nvSpPr>
          <p:cNvPr id="13" name="Shape 10"/>
          <p:cNvSpPr/>
          <p:nvPr/>
        </p:nvSpPr>
        <p:spPr>
          <a:xfrm>
            <a:off x="5669280" y="3017520"/>
            <a:ext cx="3200400" cy="822960"/>
          </a:xfrm>
          <a:prstGeom prst="rect">
            <a:avLst/>
          </a:prstGeom>
          <a:solidFill>
            <a:srgbClr val="FFFFFF"/>
          </a:solidFill>
          <a:ln/>
          <a:effectLst>
            <a:outerShdw blurRad="50800" dist="25400" dir="8100000" algn="bl" rotWithShape="0">
              <a:srgbClr val="000000">
                <a:alpha val="10000"/>
              </a:srgbClr>
            </a:outerShdw>
          </a:effectLst>
        </p:spPr>
      </p:sp>
      <p:sp>
        <p:nvSpPr>
          <p:cNvPr id="14" name="Shape 11"/>
          <p:cNvSpPr/>
          <p:nvPr/>
        </p:nvSpPr>
        <p:spPr>
          <a:xfrm>
            <a:off x="5669280" y="3017520"/>
            <a:ext cx="64008" cy="822960"/>
          </a:xfrm>
          <a:prstGeom prst="rect">
            <a:avLst/>
          </a:prstGeom>
          <a:solidFill>
            <a:srgbClr val="8172B2"/>
          </a:solidFill>
          <a:ln/>
        </p:spPr>
      </p:sp>
      <p:sp>
        <p:nvSpPr>
          <p:cNvPr id="15" name="Text 12"/>
          <p:cNvSpPr/>
          <p:nvPr/>
        </p:nvSpPr>
        <p:spPr>
          <a:xfrm>
            <a:off x="5897880" y="3063240"/>
            <a:ext cx="2834640" cy="365760"/>
          </a:xfrm>
          <a:prstGeom prst="rect">
            <a:avLst/>
          </a:prstGeom>
          <a:noFill/>
          <a:ln/>
        </p:spPr>
        <p:txBody>
          <a:bodyPr wrap="square" lIns="0" tIns="0" rIns="0" bIns="0" rtlCol="0" anchor="ctr"/>
          <a:lstStyle/>
          <a:p>
            <a:pPr marL="0" indent="0" algn="l">
              <a:buNone/>
            </a:pPr>
            <a:r>
              <a:rPr lang="en-US" sz="2000" b="1" dirty="0">
                <a:solidFill>
                  <a:srgbClr val="1A2332"/>
                </a:solidFill>
                <a:latin typeface="Georgia" pitchFamily="34" charset="0"/>
                <a:ea typeface="Georgia" pitchFamily="34" charset="-122"/>
                <a:cs typeface="Georgia" pitchFamily="34" charset="-120"/>
              </a:rPr>
              <a:t>Brazil (5)</a:t>
            </a:r>
            <a:endParaRPr lang="en-US" sz="2000" dirty="0"/>
          </a:p>
        </p:txBody>
      </p:sp>
      <p:sp>
        <p:nvSpPr>
          <p:cNvPr id="16" name="Text 13"/>
          <p:cNvSpPr/>
          <p:nvPr/>
        </p:nvSpPr>
        <p:spPr>
          <a:xfrm>
            <a:off x="5897880" y="3474720"/>
            <a:ext cx="2834640" cy="274320"/>
          </a:xfrm>
          <a:prstGeom prst="rect">
            <a:avLst/>
          </a:prstGeom>
          <a:noFill/>
          <a:ln/>
        </p:spPr>
        <p:txBody>
          <a:bodyPr wrap="square" lIns="0" tIns="0" rIns="0" bIns="0" rtlCol="0" anchor="t"/>
          <a:lstStyle/>
          <a:p>
            <a:pPr marL="0" indent="0" algn="l">
              <a:buNone/>
            </a:pPr>
            <a:r>
              <a:rPr lang="en-US" sz="1000" dirty="0">
                <a:solidFill>
                  <a:srgbClr val="94A3B8"/>
                </a:solidFill>
                <a:latin typeface="Calibri" pitchFamily="34" charset="0"/>
                <a:ea typeface="Calibri" pitchFamily="34" charset="-122"/>
                <a:cs typeface="Calibri" pitchFamily="34" charset="-120"/>
              </a:rPr>
              <a:t>followed by Germany &amp; Italy (4)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172B2"/>
          </a:solidFill>
          <a:ln/>
        </p:spPr>
      </p:sp>
      <p:sp>
        <p:nvSpPr>
          <p:cNvPr id="3" name="Text 1"/>
          <p:cNvSpPr/>
          <p:nvPr/>
        </p:nvSpPr>
        <p:spPr>
          <a:xfrm>
            <a:off x="548640" y="91440"/>
            <a:ext cx="8046720" cy="640080"/>
          </a:xfrm>
          <a:prstGeom prst="rect">
            <a:avLst/>
          </a:prstGeom>
          <a:noFill/>
          <a:ln/>
        </p:spPr>
        <p:txBody>
          <a:bodyPr wrap="square" rtlCol="0" anchor="ctr"/>
          <a:lstStyle/>
          <a:p>
            <a:pPr marL="0" indent="0" algn="l">
              <a:buNone/>
            </a:pPr>
            <a:r>
              <a:rPr lang="en-US" sz="2200" b="1" dirty="0">
                <a:solidFill>
                  <a:srgbClr val="F1F5F9"/>
                </a:solidFill>
                <a:latin typeface="Georgia" pitchFamily="34" charset="0"/>
                <a:ea typeface="Georgia" pitchFamily="34" charset="-122"/>
                <a:cs typeface="Georgia" pitchFamily="34" charset="-120"/>
              </a:rPr>
              <a:t>WORLD CUP HISTORY — Tournament Evolution</a:t>
            </a:r>
            <a:endParaRPr lang="en-US" sz="2200" dirty="0"/>
          </a:p>
        </p:txBody>
      </p:sp>
      <p:pic>
        <p:nvPicPr>
          <p:cNvPr id="4" name="Image 0" descr="preencoded.png"/>
          <p:cNvPicPr>
            <a:picLocks noChangeAspect="1"/>
          </p:cNvPicPr>
          <p:nvPr/>
        </p:nvPicPr>
        <p:blipFill>
          <a:blip r:embed="rId3"/>
          <a:stretch>
            <a:fillRect/>
          </a:stretch>
        </p:blipFill>
        <p:spPr>
          <a:xfrm>
            <a:off x="274320" y="914400"/>
            <a:ext cx="8595360" cy="3017520"/>
          </a:xfrm>
          <a:prstGeom prst="rect">
            <a:avLst/>
          </a:prstGeom>
        </p:spPr>
      </p:pic>
      <p:sp>
        <p:nvSpPr>
          <p:cNvPr id="5" name="Shape 2"/>
          <p:cNvSpPr/>
          <p:nvPr/>
        </p:nvSpPr>
        <p:spPr>
          <a:xfrm>
            <a:off x="365760" y="4114800"/>
            <a:ext cx="8412480" cy="822960"/>
          </a:xfrm>
          <a:prstGeom prst="rect">
            <a:avLst/>
          </a:prstGeom>
          <a:solidFill>
            <a:srgbClr val="FFFFFF"/>
          </a:solidFill>
          <a:ln/>
          <a:effectLst>
            <a:outerShdw blurRad="50800" dist="25400" dir="8100000" algn="bl" rotWithShape="0">
              <a:srgbClr val="000000">
                <a:alpha val="10000"/>
              </a:srgbClr>
            </a:outerShdw>
          </a:effectLst>
        </p:spPr>
      </p:sp>
      <p:sp>
        <p:nvSpPr>
          <p:cNvPr id="6" name="Shape 3"/>
          <p:cNvSpPr/>
          <p:nvPr/>
        </p:nvSpPr>
        <p:spPr>
          <a:xfrm>
            <a:off x="365760" y="4114800"/>
            <a:ext cx="8412480" cy="54864"/>
          </a:xfrm>
          <a:prstGeom prst="rect">
            <a:avLst/>
          </a:prstGeom>
          <a:solidFill>
            <a:srgbClr val="0D9488"/>
          </a:solidFill>
          <a:ln/>
        </p:spPr>
      </p:sp>
      <p:sp>
        <p:nvSpPr>
          <p:cNvPr id="7" name="Text 4"/>
          <p:cNvSpPr/>
          <p:nvPr/>
        </p:nvSpPr>
        <p:spPr>
          <a:xfrm>
            <a:off x="548640" y="4251960"/>
            <a:ext cx="8046720" cy="594360"/>
          </a:xfrm>
          <a:prstGeom prst="rect">
            <a:avLst/>
          </a:prstGeom>
          <a:noFill/>
          <a:ln/>
        </p:spPr>
        <p:txBody>
          <a:bodyPr wrap="square" rtlCol="0" anchor="ctr"/>
          <a:lstStyle/>
          <a:p>
            <a:pPr marL="0" indent="0" algn="l">
              <a:lnSpc>
                <a:spcPct val="130000"/>
              </a:lnSpc>
              <a:buNone/>
            </a:pPr>
            <a:r>
              <a:rPr lang="en-US" sz="1100" dirty="0">
                <a:solidFill>
                  <a:srgbClr val="1E293B"/>
                </a:solidFill>
                <a:latin typeface="Calibri" pitchFamily="34" charset="0"/>
                <a:ea typeface="Calibri" pitchFamily="34" charset="-122"/>
                <a:cs typeface="Calibri" pitchFamily="34" charset="-120"/>
              </a:rPr>
              <a:t>The tournament has grown from 13 teams and 18 games (1930) to 32 teams and 64 games (1998–2022). Goals per game have remained relatively stable despite the expansion. The 2026 edition will be the largest ever with 48 teams and 104 games.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548640" y="274320"/>
            <a:ext cx="8046720" cy="640080"/>
          </a:xfrm>
          <a:prstGeom prst="rect">
            <a:avLst/>
          </a:prstGeom>
          <a:noFill/>
          <a:ln/>
        </p:spPr>
        <p:txBody>
          <a:bodyPr wrap="square" rtlCol="0" anchor="ctr"/>
          <a:lstStyle/>
          <a:p>
            <a:pPr marL="0" indent="0" algn="l">
              <a:buNone/>
            </a:pPr>
            <a:r>
              <a:rPr lang="en-US" sz="3000" b="1" dirty="0">
                <a:solidFill>
                  <a:srgbClr val="F59E0B"/>
                </a:solidFill>
                <a:latin typeface="Georgia" pitchFamily="34" charset="0"/>
                <a:ea typeface="Georgia" pitchFamily="34" charset="-122"/>
                <a:cs typeface="Georgia" pitchFamily="34" charset="-120"/>
              </a:rPr>
              <a:t>GENERAL CONCLUSIONS</a:t>
            </a:r>
            <a:endParaRPr lang="en-US" sz="3000" dirty="0"/>
          </a:p>
        </p:txBody>
      </p:sp>
      <p:sp>
        <p:nvSpPr>
          <p:cNvPr id="4" name="Shape 2"/>
          <p:cNvSpPr/>
          <p:nvPr/>
        </p:nvSpPr>
        <p:spPr>
          <a:xfrm>
            <a:off x="548640" y="1097280"/>
            <a:ext cx="8046720" cy="658368"/>
          </a:xfrm>
          <a:prstGeom prst="rect">
            <a:avLst/>
          </a:prstGeom>
          <a:solidFill>
            <a:srgbClr val="1E293B"/>
          </a:solidFill>
          <a:ln/>
        </p:spPr>
      </p:sp>
      <p:sp>
        <p:nvSpPr>
          <p:cNvPr id="5" name="Shape 3"/>
          <p:cNvSpPr/>
          <p:nvPr/>
        </p:nvSpPr>
        <p:spPr>
          <a:xfrm>
            <a:off x="548640" y="1097280"/>
            <a:ext cx="64008" cy="658368"/>
          </a:xfrm>
          <a:prstGeom prst="rect">
            <a:avLst/>
          </a:prstGeom>
          <a:solidFill>
            <a:srgbClr val="0D9488"/>
          </a:solidFill>
          <a:ln/>
        </p:spPr>
      </p:sp>
      <p:sp>
        <p:nvSpPr>
          <p:cNvPr id="6" name="Text 4"/>
          <p:cNvSpPr/>
          <p:nvPr/>
        </p:nvSpPr>
        <p:spPr>
          <a:xfrm>
            <a:off x="777240" y="1143000"/>
            <a:ext cx="7589520" cy="274320"/>
          </a:xfrm>
          <a:prstGeom prst="rect">
            <a:avLst/>
          </a:prstGeom>
          <a:noFill/>
          <a:ln/>
        </p:spPr>
        <p:txBody>
          <a:bodyPr wrap="square" lIns="0" tIns="0" rIns="0" bIns="0" rtlCol="0" anchor="ctr"/>
          <a:lstStyle/>
          <a:p>
            <a:pPr marL="0" indent="0" algn="l">
              <a:buNone/>
            </a:pPr>
            <a:r>
              <a:rPr lang="en-US" sz="1400" b="1" dirty="0">
                <a:solidFill>
                  <a:srgbClr val="0D9488"/>
                </a:solidFill>
                <a:latin typeface="Georgia" pitchFamily="34" charset="0"/>
                <a:ea typeface="Georgia" pitchFamily="34" charset="-122"/>
                <a:cs typeface="Georgia" pitchFamily="34" charset="-120"/>
              </a:rPr>
              <a:t>UEFA Dominance Is Structural</a:t>
            </a:r>
            <a:endParaRPr lang="en-US" sz="1400" dirty="0"/>
          </a:p>
        </p:txBody>
      </p:sp>
      <p:sp>
        <p:nvSpPr>
          <p:cNvPr id="7" name="Text 5"/>
          <p:cNvSpPr/>
          <p:nvPr/>
        </p:nvSpPr>
        <p:spPr>
          <a:xfrm>
            <a:off x="777240" y="1417320"/>
            <a:ext cx="7589520" cy="27432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European teams lead in market value, FIFA ranking, and qualifier performance. 12 of the top 15 most valuable squads are from UEFA.</a:t>
            </a:r>
            <a:endParaRPr lang="en-US" sz="1100" dirty="0"/>
          </a:p>
        </p:txBody>
      </p:sp>
      <p:sp>
        <p:nvSpPr>
          <p:cNvPr id="8" name="Shape 6"/>
          <p:cNvSpPr/>
          <p:nvPr/>
        </p:nvSpPr>
        <p:spPr>
          <a:xfrm>
            <a:off x="548640" y="1874520"/>
            <a:ext cx="8046720" cy="658368"/>
          </a:xfrm>
          <a:prstGeom prst="rect">
            <a:avLst/>
          </a:prstGeom>
          <a:solidFill>
            <a:srgbClr val="1E293B"/>
          </a:solidFill>
          <a:ln/>
        </p:spPr>
      </p:sp>
      <p:sp>
        <p:nvSpPr>
          <p:cNvPr id="9" name="Shape 7"/>
          <p:cNvSpPr/>
          <p:nvPr/>
        </p:nvSpPr>
        <p:spPr>
          <a:xfrm>
            <a:off x="548640" y="1874520"/>
            <a:ext cx="64008" cy="658368"/>
          </a:xfrm>
          <a:prstGeom prst="rect">
            <a:avLst/>
          </a:prstGeom>
          <a:solidFill>
            <a:srgbClr val="0D9488"/>
          </a:solidFill>
          <a:ln/>
        </p:spPr>
      </p:sp>
      <p:sp>
        <p:nvSpPr>
          <p:cNvPr id="10" name="Text 8"/>
          <p:cNvSpPr/>
          <p:nvPr/>
        </p:nvSpPr>
        <p:spPr>
          <a:xfrm>
            <a:off x="777240" y="1920240"/>
            <a:ext cx="7589520" cy="274320"/>
          </a:xfrm>
          <a:prstGeom prst="rect">
            <a:avLst/>
          </a:prstGeom>
          <a:noFill/>
          <a:ln/>
        </p:spPr>
        <p:txBody>
          <a:bodyPr wrap="square" lIns="0" tIns="0" rIns="0" bIns="0" rtlCol="0" anchor="ctr"/>
          <a:lstStyle/>
          <a:p>
            <a:pPr marL="0" indent="0" algn="l">
              <a:buNone/>
            </a:pPr>
            <a:r>
              <a:rPr lang="en-US" sz="1400" b="1" dirty="0">
                <a:solidFill>
                  <a:srgbClr val="0D9488"/>
                </a:solidFill>
                <a:latin typeface="Georgia" pitchFamily="34" charset="0"/>
                <a:ea typeface="Georgia" pitchFamily="34" charset="-122"/>
                <a:cs typeface="Georgia" pitchFamily="34" charset="-120"/>
              </a:rPr>
              <a:t>Three Predictive Pillars Emerge</a:t>
            </a:r>
            <a:endParaRPr lang="en-US" sz="1400" dirty="0"/>
          </a:p>
        </p:txBody>
      </p:sp>
      <p:sp>
        <p:nvSpPr>
          <p:cNvPr id="11" name="Text 9"/>
          <p:cNvSpPr/>
          <p:nvPr/>
        </p:nvSpPr>
        <p:spPr>
          <a:xfrm>
            <a:off x="777240" y="2194560"/>
            <a:ext cx="7589520" cy="27432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FIFA ranking, market value, and qualifier win% are the most correlated variables with overall team strength — forming the predictive core of our model.</a:t>
            </a:r>
            <a:endParaRPr lang="en-US" sz="1100" dirty="0"/>
          </a:p>
        </p:txBody>
      </p:sp>
      <p:sp>
        <p:nvSpPr>
          <p:cNvPr id="12" name="Shape 10"/>
          <p:cNvSpPr/>
          <p:nvPr/>
        </p:nvSpPr>
        <p:spPr>
          <a:xfrm>
            <a:off x="548640" y="2651760"/>
            <a:ext cx="8046720" cy="658368"/>
          </a:xfrm>
          <a:prstGeom prst="rect">
            <a:avLst/>
          </a:prstGeom>
          <a:solidFill>
            <a:srgbClr val="1E293B"/>
          </a:solidFill>
          <a:ln/>
        </p:spPr>
      </p:sp>
      <p:sp>
        <p:nvSpPr>
          <p:cNvPr id="13" name="Shape 11"/>
          <p:cNvSpPr/>
          <p:nvPr/>
        </p:nvSpPr>
        <p:spPr>
          <a:xfrm>
            <a:off x="548640" y="2651760"/>
            <a:ext cx="64008" cy="658368"/>
          </a:xfrm>
          <a:prstGeom prst="rect">
            <a:avLst/>
          </a:prstGeom>
          <a:solidFill>
            <a:srgbClr val="0D9488"/>
          </a:solidFill>
          <a:ln/>
        </p:spPr>
      </p:sp>
      <p:sp>
        <p:nvSpPr>
          <p:cNvPr id="14" name="Text 12"/>
          <p:cNvSpPr/>
          <p:nvPr/>
        </p:nvSpPr>
        <p:spPr>
          <a:xfrm>
            <a:off x="777240" y="2697480"/>
            <a:ext cx="7589520" cy="274320"/>
          </a:xfrm>
          <a:prstGeom prst="rect">
            <a:avLst/>
          </a:prstGeom>
          <a:noFill/>
          <a:ln/>
        </p:spPr>
        <p:txBody>
          <a:bodyPr wrap="square" lIns="0" tIns="0" rIns="0" bIns="0" rtlCol="0" anchor="ctr"/>
          <a:lstStyle/>
          <a:p>
            <a:pPr marL="0" indent="0" algn="l">
              <a:buNone/>
            </a:pPr>
            <a:r>
              <a:rPr lang="en-US" sz="1400" b="1" dirty="0">
                <a:solidFill>
                  <a:srgbClr val="0D9488"/>
                </a:solidFill>
                <a:latin typeface="Georgia" pitchFamily="34" charset="0"/>
                <a:ea typeface="Georgia" pitchFamily="34" charset="-122"/>
                <a:cs typeface="Georgia" pitchFamily="34" charset="-120"/>
              </a:rPr>
              <a:t>History Predicts, But Doesn't Determine</a:t>
            </a:r>
            <a:endParaRPr lang="en-US" sz="1400" dirty="0"/>
          </a:p>
        </p:txBody>
      </p:sp>
      <p:sp>
        <p:nvSpPr>
          <p:cNvPr id="15" name="Text 13"/>
          <p:cNvSpPr/>
          <p:nvPr/>
        </p:nvSpPr>
        <p:spPr>
          <a:xfrm>
            <a:off x="777240" y="2971800"/>
            <a:ext cx="7589520" cy="27432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World Cup historical win% correlates positively with current form, but several teams have improved or declined relative to their tradition.</a:t>
            </a:r>
            <a:endParaRPr lang="en-US" sz="1100" dirty="0"/>
          </a:p>
        </p:txBody>
      </p:sp>
      <p:sp>
        <p:nvSpPr>
          <p:cNvPr id="16" name="Shape 14"/>
          <p:cNvSpPr/>
          <p:nvPr/>
        </p:nvSpPr>
        <p:spPr>
          <a:xfrm>
            <a:off x="548640" y="3429000"/>
            <a:ext cx="8046720" cy="658368"/>
          </a:xfrm>
          <a:prstGeom prst="rect">
            <a:avLst/>
          </a:prstGeom>
          <a:solidFill>
            <a:srgbClr val="1E293B"/>
          </a:solidFill>
          <a:ln/>
        </p:spPr>
      </p:sp>
      <p:sp>
        <p:nvSpPr>
          <p:cNvPr id="17" name="Shape 15"/>
          <p:cNvSpPr/>
          <p:nvPr/>
        </p:nvSpPr>
        <p:spPr>
          <a:xfrm>
            <a:off x="548640" y="3429000"/>
            <a:ext cx="64008" cy="658368"/>
          </a:xfrm>
          <a:prstGeom prst="rect">
            <a:avLst/>
          </a:prstGeom>
          <a:solidFill>
            <a:srgbClr val="0D9488"/>
          </a:solidFill>
          <a:ln/>
        </p:spPr>
      </p:sp>
      <p:sp>
        <p:nvSpPr>
          <p:cNvPr id="18" name="Text 16"/>
          <p:cNvSpPr/>
          <p:nvPr/>
        </p:nvSpPr>
        <p:spPr>
          <a:xfrm>
            <a:off x="777240" y="3474720"/>
            <a:ext cx="7589520" cy="274320"/>
          </a:xfrm>
          <a:prstGeom prst="rect">
            <a:avLst/>
          </a:prstGeom>
          <a:noFill/>
          <a:ln/>
        </p:spPr>
        <p:txBody>
          <a:bodyPr wrap="square" lIns="0" tIns="0" rIns="0" bIns="0" rtlCol="0" anchor="ctr"/>
          <a:lstStyle/>
          <a:p>
            <a:pPr marL="0" indent="0" algn="l">
              <a:buNone/>
            </a:pPr>
            <a:r>
              <a:rPr lang="en-US" sz="1400" b="1" dirty="0">
                <a:solidFill>
                  <a:srgbClr val="0D9488"/>
                </a:solidFill>
                <a:latin typeface="Georgia" pitchFamily="34" charset="0"/>
                <a:ea typeface="Georgia" pitchFamily="34" charset="-122"/>
                <a:cs typeface="Georgia" pitchFamily="34" charset="-120"/>
              </a:rPr>
              <a:t>The Top Contenders</a:t>
            </a:r>
            <a:endParaRPr lang="en-US" sz="1400" dirty="0"/>
          </a:p>
        </p:txBody>
      </p:sp>
      <p:sp>
        <p:nvSpPr>
          <p:cNvPr id="19" name="Text 17"/>
          <p:cNvSpPr/>
          <p:nvPr/>
        </p:nvSpPr>
        <p:spPr>
          <a:xfrm>
            <a:off x="777240" y="3749040"/>
            <a:ext cx="7589520" cy="27432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Composite scoring across all datasets places Brazil, France, Spain, Germany and Argentina as the most complete teams heading into 2026.</a:t>
            </a:r>
            <a:endParaRPr lang="en-US" sz="1100" dirty="0"/>
          </a:p>
        </p:txBody>
      </p:sp>
      <p:sp>
        <p:nvSpPr>
          <p:cNvPr id="20" name="Shape 18"/>
          <p:cNvSpPr/>
          <p:nvPr/>
        </p:nvSpPr>
        <p:spPr>
          <a:xfrm>
            <a:off x="548640" y="4206240"/>
            <a:ext cx="8046720" cy="658368"/>
          </a:xfrm>
          <a:prstGeom prst="rect">
            <a:avLst/>
          </a:prstGeom>
          <a:solidFill>
            <a:srgbClr val="1E293B"/>
          </a:solidFill>
          <a:ln/>
        </p:spPr>
      </p:sp>
      <p:sp>
        <p:nvSpPr>
          <p:cNvPr id="21" name="Shape 19"/>
          <p:cNvSpPr/>
          <p:nvPr/>
        </p:nvSpPr>
        <p:spPr>
          <a:xfrm>
            <a:off x="548640" y="4206240"/>
            <a:ext cx="64008" cy="658368"/>
          </a:xfrm>
          <a:prstGeom prst="rect">
            <a:avLst/>
          </a:prstGeom>
          <a:solidFill>
            <a:srgbClr val="0D9488"/>
          </a:solidFill>
          <a:ln/>
        </p:spPr>
      </p:sp>
      <p:sp>
        <p:nvSpPr>
          <p:cNvPr id="22" name="Text 20"/>
          <p:cNvSpPr/>
          <p:nvPr/>
        </p:nvSpPr>
        <p:spPr>
          <a:xfrm>
            <a:off x="777240" y="4251960"/>
            <a:ext cx="7589520" cy="274320"/>
          </a:xfrm>
          <a:prstGeom prst="rect">
            <a:avLst/>
          </a:prstGeom>
          <a:noFill/>
          <a:ln/>
        </p:spPr>
        <p:txBody>
          <a:bodyPr wrap="square" lIns="0" tIns="0" rIns="0" bIns="0" rtlCol="0" anchor="ctr"/>
          <a:lstStyle/>
          <a:p>
            <a:pPr marL="0" indent="0" algn="l">
              <a:buNone/>
            </a:pPr>
            <a:r>
              <a:rPr lang="en-US" sz="1400" b="1" dirty="0">
                <a:solidFill>
                  <a:srgbClr val="0D9488"/>
                </a:solidFill>
                <a:latin typeface="Georgia" pitchFamily="34" charset="0"/>
                <a:ea typeface="Georgia" pitchFamily="34" charset="-122"/>
                <a:cs typeface="Georgia" pitchFamily="34" charset="-120"/>
              </a:rPr>
              <a:t>Qualification = Quality Signal</a:t>
            </a:r>
            <a:endParaRPr lang="en-US" sz="1400" dirty="0"/>
          </a:p>
        </p:txBody>
      </p:sp>
      <p:sp>
        <p:nvSpPr>
          <p:cNvPr id="23" name="Text 21"/>
          <p:cNvSpPr/>
          <p:nvPr/>
        </p:nvSpPr>
        <p:spPr>
          <a:xfrm>
            <a:off x="777240" y="4526280"/>
            <a:ext cx="7589520" cy="274320"/>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Confirmed teams show ~2× higher win rates and better defensive records than playoff teams across all confederations.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p:spPr>
      </p:sp>
      <p:sp>
        <p:nvSpPr>
          <p:cNvPr id="3" name="Text 1"/>
          <p:cNvSpPr/>
          <p:nvPr/>
        </p:nvSpPr>
        <p:spPr>
          <a:xfrm>
            <a:off x="731520" y="914400"/>
            <a:ext cx="7680960" cy="640080"/>
          </a:xfrm>
          <a:prstGeom prst="rect">
            <a:avLst/>
          </a:prstGeom>
          <a:noFill/>
          <a:ln/>
        </p:spPr>
        <p:txBody>
          <a:bodyPr wrap="square" rtlCol="0" anchor="ctr"/>
          <a:lstStyle/>
          <a:p>
            <a:pPr marL="0" indent="0" algn="l">
              <a:buNone/>
            </a:pPr>
            <a:r>
              <a:rPr lang="en-US" sz="3200" b="1" dirty="0">
                <a:solidFill>
                  <a:srgbClr val="F59E0B"/>
                </a:solidFill>
                <a:latin typeface="Georgia" pitchFamily="34" charset="0"/>
                <a:ea typeface="Georgia" pitchFamily="34" charset="-122"/>
                <a:cs typeface="Georgia" pitchFamily="34" charset="-120"/>
              </a:rPr>
              <a:t>NEXT STEPS</a:t>
            </a:r>
            <a:endParaRPr lang="en-US" sz="3200" dirty="0"/>
          </a:p>
        </p:txBody>
      </p:sp>
      <p:sp>
        <p:nvSpPr>
          <p:cNvPr id="4" name="Text 2"/>
          <p:cNvSpPr/>
          <p:nvPr/>
        </p:nvSpPr>
        <p:spPr>
          <a:xfrm>
            <a:off x="731520" y="1828800"/>
            <a:ext cx="7680960" cy="2286000"/>
          </a:xfrm>
          <a:prstGeom prst="rect">
            <a:avLst/>
          </a:prstGeom>
          <a:noFill/>
          <a:ln/>
        </p:spPr>
        <p:txBody>
          <a:bodyPr wrap="square" rtlCol="0" anchor="t"/>
          <a:lstStyle/>
          <a:p>
            <a:pPr marL="342900" indent="-342900">
              <a:spcAft>
                <a:spcPts val="1200"/>
              </a:spcAft>
              <a:buSzPct val="100000"/>
              <a:buChar char="•"/>
            </a:pPr>
            <a:r>
              <a:rPr lang="en-US" sz="1300" dirty="0">
                <a:solidFill>
                  <a:srgbClr val="F1F5F9"/>
                </a:solidFill>
                <a:latin typeface="Calibri" pitchFamily="34" charset="0"/>
                <a:ea typeface="Calibri" pitchFamily="34" charset="-122"/>
                <a:cs typeface="Calibri" pitchFamily="34" charset="-120"/>
              </a:rPr>
              <a:t>Feature Engineering — build the master dataset from these 4 sources</a:t>
            </a:r>
            <a:endParaRPr lang="en-US" sz="1300" dirty="0"/>
          </a:p>
          <a:p>
            <a:pPr marL="342900" indent="-342900">
              <a:spcAft>
                <a:spcPts val="1200"/>
              </a:spcAft>
              <a:buSzPct val="100000"/>
              <a:buChar char="•"/>
            </a:pPr>
            <a:r>
              <a:rPr lang="en-US" sz="1300" dirty="0">
                <a:solidFill>
                  <a:srgbClr val="F1F5F9"/>
                </a:solidFill>
                <a:latin typeface="Calibri" pitchFamily="34" charset="0"/>
                <a:ea typeface="Calibri" pitchFamily="34" charset="-122"/>
                <a:cs typeface="Calibri" pitchFamily="34" charset="-120"/>
              </a:rPr>
              <a:t>Model Training — classification model for match outcomes (W/D/L)</a:t>
            </a:r>
            <a:endParaRPr lang="en-US" sz="1300" dirty="0"/>
          </a:p>
          <a:p>
            <a:pPr marL="342900" indent="-342900">
              <a:spcAft>
                <a:spcPts val="1200"/>
              </a:spcAft>
              <a:buSzPct val="100000"/>
              <a:buChar char="•"/>
            </a:pPr>
            <a:r>
              <a:rPr lang="en-US" sz="1300" dirty="0">
                <a:solidFill>
                  <a:srgbClr val="F1F5F9"/>
                </a:solidFill>
                <a:latin typeface="Calibri" pitchFamily="34" charset="0"/>
                <a:ea typeface="Calibri" pitchFamily="34" charset="-122"/>
                <a:cs typeface="Calibri" pitchFamily="34" charset="-120"/>
              </a:rPr>
              <a:t>Monte Carlo Simulation — simulate the full tournament thousands of times</a:t>
            </a:r>
            <a:endParaRPr lang="en-US" sz="1300" dirty="0"/>
          </a:p>
          <a:p>
            <a:pPr marL="342900" indent="-342900">
              <a:spcAft>
                <a:spcPts val="1200"/>
              </a:spcAft>
              <a:buSzPct val="100000"/>
              <a:buChar char="•"/>
            </a:pPr>
            <a:r>
              <a:rPr lang="en-US" sz="1300" dirty="0">
                <a:solidFill>
                  <a:srgbClr val="F1F5F9"/>
                </a:solidFill>
                <a:latin typeface="Calibri" pitchFamily="34" charset="0"/>
                <a:ea typeface="Calibri" pitchFamily="34" charset="-122"/>
                <a:cs typeface="Calibri" pitchFamily="34" charset="-120"/>
              </a:rPr>
              <a:t>Championship Probability Ranking — probabilistic prediction of the winner</a:t>
            </a:r>
            <a:endParaRPr lang="en-US" sz="1300" dirty="0"/>
          </a:p>
        </p:txBody>
      </p:sp>
      <p:sp>
        <p:nvSpPr>
          <p:cNvPr id="5" name="Shape 3"/>
          <p:cNvSpPr/>
          <p:nvPr/>
        </p:nvSpPr>
        <p:spPr>
          <a:xfrm>
            <a:off x="0" y="4754880"/>
            <a:ext cx="9144000" cy="388620"/>
          </a:xfrm>
          <a:prstGeom prst="rect">
            <a:avLst/>
          </a:prstGeom>
          <a:solidFill>
            <a:srgbClr val="0D9488"/>
          </a:solidFill>
          <a:ln/>
        </p:spPr>
      </p:sp>
      <p:sp>
        <p:nvSpPr>
          <p:cNvPr id="6" name="Text 4"/>
          <p:cNvSpPr/>
          <p:nvPr/>
        </p:nvSpPr>
        <p:spPr>
          <a:xfrm>
            <a:off x="731520" y="4800600"/>
            <a:ext cx="76809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FIFA World Cup 2026 Prediction Project — EDA Presentation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788</Words>
  <Application>Microsoft Macintosh PowerPoint</Application>
  <PresentationFormat>Presentación en pantalla (16:9)</PresentationFormat>
  <Paragraphs>99</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FIFA World Cup 2026 — Exploratory Data Analysis</dc:title>
  <dc:subject>PptxGenJS Presentation</dc:subject>
  <dc:creator>World Cup 2026 Analysis</dc:creator>
  <cp:lastModifiedBy>Usuario de Microsoft Office</cp:lastModifiedBy>
  <cp:revision>1</cp:revision>
  <dcterms:created xsi:type="dcterms:W3CDTF">2026-02-26T16:50:08Z</dcterms:created>
  <dcterms:modified xsi:type="dcterms:W3CDTF">2026-02-26T16:54:17Z</dcterms:modified>
</cp:coreProperties>
</file>